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assistant that turns customer reviews into operational decisions for restaurant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is not a lack of customer reviews. It is the difficulty of extracting useful operational insights from a large volume of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asking a general-purpose chatbot to guess the answer, the system first retrieves relevant customer-review evidence and then uses AI to analyze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prepares and indexes reviews before processing questions. When a manager asks a question, it retrieves evidence, validates it, analyzes the complaint and returns a report. This reflects the current separate-storage design; the PostgreSQL + pgvector consolidation is a proposal, not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a specialized responsibility. Together they turn the manager's question and retrieved customer feedback into a structured operational analysis and a final answer. The configured LLM provider supplies the AI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a specialized responsibility. Together they turn the manager's question and retrieved customer feedback into a structured operational analysis and a final answer. The configured LLM provider supplies the AI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capabilities beyond basic review retrieval. Fallbacks apply where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A"/>
        </a:solidFill>
      </p:bgPr>
    </p:bg>
    <p:spTree>
      <p:nvGrpSpPr>
        <p:cNvPr id="1" name=""/>
        <p:cNvGrpSpPr/>
        <p:nvPr/>
      </p:nvGrpSpPr>
      <p:grpSpPr>
        <a:xfrm>
          <a:off x="0" y="0"/>
          <a:ext cx="0" cy="0"/>
          <a:chOff x="0" y="0"/>
          <a:chExt cx="0" cy="0"/>
        </a:xfrm>
      </p:grpSpPr>
      <p:sp>
        <p:nvSpPr>
          <p:cNvPr id="3" name="Shape 0"/>
          <p:cNvSpPr/>
          <p:nvPr/>
        </p:nvSpPr>
        <p:spPr>
          <a:xfrm>
            <a:off x="0" y="0"/>
            <a:ext cx="228600" cy="5143500"/>
          </a:xfrm>
          <a:prstGeom prst="rect">
            <a:avLst/>
          </a:prstGeom>
          <a:solidFill>
            <a:srgbClr val="E8590C"/>
          </a:solidFill>
          <a:ln w="12700">
            <a:solidFill>
              <a:srgbClr val="E8590C"/>
            </a:solidFill>
            <a:prstDash val="solid"/>
          </a:ln>
        </p:spPr>
      </p:sp>
      <p:sp>
        <p:nvSpPr>
          <p:cNvPr id="4" name="Text 1"/>
          <p:cNvSpPr txBox="1"/>
          <p:nvPr/>
        </p:nvSpPr>
        <p:spPr>
          <a:xfrm>
            <a:off x="731520" y="1005840"/>
            <a:ext cx="7863840" cy="365760"/>
          </a:xfrm>
          <a:prstGeom prst="rect">
            <a:avLst/>
          </a:prstGeom>
          <a:noFill/>
          <a:ln/>
        </p:spPr>
        <p:txBody>
          <a:bodyPr wrap="square" lIns="0" tIns="0" rIns="0" bIns="0" rtlCol="0" anchor="t"/>
          <a:lstStyle/>
          <a:p>
            <a:pPr indent="0" marL="0">
              <a:buNone/>
            </a:pPr>
            <a:r>
              <a:rPr lang="en-US" sz="1400" b="1" spc="300" kern="0" dirty="0">
                <a:solidFill>
                  <a:srgbClr val="E8590C"/>
                </a:solidFill>
                <a:latin typeface="Calibri" pitchFamily="34" charset="0"/>
                <a:ea typeface="Calibri" pitchFamily="34" charset="-122"/>
                <a:cs typeface="Calibri" pitchFamily="34" charset="-120"/>
              </a:rPr>
              <a:t>RAG · MULTI-AGENT · YELP OPEN DATASET</a:t>
            </a:r>
            <a:endParaRPr lang="en-US" sz="1400" dirty="0"/>
          </a:p>
        </p:txBody>
      </p:sp>
      <p:sp>
        <p:nvSpPr>
          <p:cNvPr id="5" name="Text 2"/>
          <p:cNvSpPr txBox="1"/>
          <p:nvPr/>
        </p:nvSpPr>
        <p:spPr>
          <a:xfrm>
            <a:off x="731520" y="1463040"/>
            <a:ext cx="7680960" cy="1645920"/>
          </a:xfrm>
          <a:prstGeom prst="rect">
            <a:avLst/>
          </a:prstGeom>
          <a:noFill/>
          <a:ln/>
        </p:spPr>
        <p:txBody>
          <a:bodyPr wrap="square" lIns="0" tIns="0" rIns="0" bIns="0" rtlCol="0" anchor="t"/>
          <a:lstStyle/>
          <a:p>
            <a:pPr indent="0" marL="0">
              <a:buNone/>
            </a:pPr>
            <a:r>
              <a:rPr lang="en-US" sz="4000" dirty="0">
                <a:solidFill>
                  <a:srgbClr val="F6F3EC"/>
                </a:solidFill>
                <a:latin typeface="Georgia" pitchFamily="34" charset="0"/>
                <a:ea typeface="Georgia" pitchFamily="34" charset="-122"/>
                <a:cs typeface="Georgia" pitchFamily="34" charset="-120"/>
              </a:rPr>
              <a:t>AI-Powered Restaurant Operations &amp; Review Assistant</a:t>
            </a:r>
            <a:endParaRPr lang="en-US" sz="4000" dirty="0"/>
          </a:p>
        </p:txBody>
      </p:sp>
      <p:sp>
        <p:nvSpPr>
          <p:cNvPr id="6" name="Text 3"/>
          <p:cNvSpPr txBox="1"/>
          <p:nvPr/>
        </p:nvSpPr>
        <p:spPr>
          <a:xfrm>
            <a:off x="731520" y="3657600"/>
            <a:ext cx="7680960" cy="457200"/>
          </a:xfrm>
          <a:prstGeom prst="rect">
            <a:avLst/>
          </a:prstGeom>
          <a:noFill/>
          <a:ln/>
        </p:spPr>
        <p:txBody>
          <a:bodyPr wrap="square" lIns="0" tIns="0" rIns="0" bIns="0" rtlCol="0" anchor="t"/>
          <a:lstStyle/>
          <a:p>
            <a:pPr indent="0" marL="0">
              <a:buNone/>
            </a:pPr>
            <a:r>
              <a:rPr lang="en-US" sz="1800" dirty="0">
                <a:solidFill>
                  <a:srgbClr val="C9C5BA"/>
                </a:solidFill>
                <a:latin typeface="Calibri" pitchFamily="34" charset="0"/>
                <a:ea typeface="Calibri" pitchFamily="34" charset="-122"/>
                <a:cs typeface="Calibri" pitchFamily="34" charset="-120"/>
              </a:rPr>
              <a:t>From unstructured reviews to evidence-based corrective actions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2A"/>
        </a:solidFill>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400" dirty="0">
                <a:solidFill>
                  <a:srgbClr val="F6F3EC"/>
                </a:solidFill>
                <a:latin typeface="Georgia" pitchFamily="34" charset="0"/>
                <a:ea typeface="Georgia" pitchFamily="34" charset="-122"/>
                <a:cs typeface="Georgia" pitchFamily="34" charset="-120"/>
              </a:rPr>
              <a:t>Problem Statement</a:t>
            </a:r>
            <a:endParaRPr lang="en-US" sz="3400" dirty="0"/>
          </a:p>
        </p:txBody>
      </p:sp>
      <p:sp>
        <p:nvSpPr>
          <p:cNvPr id="4" name="Text 1"/>
          <p:cNvSpPr txBox="1"/>
          <p:nvPr/>
        </p:nvSpPr>
        <p:spPr>
          <a:xfrm>
            <a:off x="457200" y="1188720"/>
            <a:ext cx="822960" cy="548640"/>
          </a:xfrm>
          <a:prstGeom prst="rect">
            <a:avLst/>
          </a:prstGeom>
          <a:noFill/>
          <a:ln/>
        </p:spPr>
        <p:txBody>
          <a:bodyPr wrap="square" lIns="0" tIns="0" rIns="0" bIns="0" rtlCol="0" anchor="t"/>
          <a:lstStyle/>
          <a:p>
            <a:pPr indent="0" marL="0">
              <a:buNone/>
            </a:pPr>
            <a:r>
              <a:rPr lang="en-US" sz="2600" dirty="0">
                <a:solidFill>
                  <a:srgbClr val="E8590C"/>
                </a:solidFill>
                <a:latin typeface="Georgia" pitchFamily="34" charset="0"/>
                <a:ea typeface="Georgia" pitchFamily="34" charset="-122"/>
                <a:cs typeface="Georgia" pitchFamily="34" charset="-120"/>
              </a:rPr>
              <a:t>01</a:t>
            </a:r>
            <a:endParaRPr lang="en-US" sz="2600" dirty="0"/>
          </a:p>
        </p:txBody>
      </p:sp>
      <p:sp>
        <p:nvSpPr>
          <p:cNvPr id="5" name="Text 2"/>
          <p:cNvSpPr txBox="1"/>
          <p:nvPr/>
        </p:nvSpPr>
        <p:spPr>
          <a:xfrm>
            <a:off x="1371600" y="1188720"/>
            <a:ext cx="7315200" cy="548640"/>
          </a:xfrm>
          <a:prstGeom prst="rect">
            <a:avLst/>
          </a:prstGeom>
          <a:noFill/>
          <a:ln/>
        </p:spPr>
        <p:txBody>
          <a:bodyPr wrap="square" lIns="0" tIns="0" rIns="0" bIns="0" rtlCol="0" anchor="ctr"/>
          <a:lstStyle/>
          <a:p>
            <a:pPr indent="0" marL="0">
              <a:buNone/>
            </a:pPr>
            <a:r>
              <a:rPr lang="en-US" sz="1500" dirty="0">
                <a:solidFill>
                  <a:srgbClr val="F6F3EC"/>
                </a:solidFill>
                <a:latin typeface="Calibri" pitchFamily="34" charset="0"/>
                <a:ea typeface="Calibri" pitchFamily="34" charset="-122"/>
                <a:cs typeface="Calibri" pitchFamily="34" charset="-120"/>
              </a:rPr>
              <a:t>Restaurants receive thousands of customer reviews across different platforms.</a:t>
            </a:r>
            <a:endParaRPr lang="en-US" sz="1500" dirty="0"/>
          </a:p>
        </p:txBody>
      </p:sp>
      <p:sp>
        <p:nvSpPr>
          <p:cNvPr id="6" name="Shape 3"/>
          <p:cNvSpPr/>
          <p:nvPr/>
        </p:nvSpPr>
        <p:spPr>
          <a:xfrm>
            <a:off x="457200" y="1792224"/>
            <a:ext cx="8229600" cy="9144"/>
          </a:xfrm>
          <a:prstGeom prst="rect">
            <a:avLst/>
          </a:prstGeom>
          <a:solidFill>
            <a:srgbClr val="2A3040"/>
          </a:solidFill>
          <a:ln w="12700">
            <a:solidFill>
              <a:srgbClr val="2A3040"/>
            </a:solidFill>
            <a:prstDash val="solid"/>
          </a:ln>
        </p:spPr>
      </p:sp>
      <p:sp>
        <p:nvSpPr>
          <p:cNvPr id="7" name="Text 4"/>
          <p:cNvSpPr txBox="1"/>
          <p:nvPr/>
        </p:nvSpPr>
        <p:spPr>
          <a:xfrm>
            <a:off x="457200" y="1865376"/>
            <a:ext cx="822960" cy="548640"/>
          </a:xfrm>
          <a:prstGeom prst="rect">
            <a:avLst/>
          </a:prstGeom>
          <a:noFill/>
          <a:ln/>
        </p:spPr>
        <p:txBody>
          <a:bodyPr wrap="square" lIns="0" tIns="0" rIns="0" bIns="0" rtlCol="0" anchor="t"/>
          <a:lstStyle/>
          <a:p>
            <a:pPr indent="0" marL="0">
              <a:buNone/>
            </a:pPr>
            <a:r>
              <a:rPr lang="en-US" sz="2600" dirty="0">
                <a:solidFill>
                  <a:srgbClr val="E8590C"/>
                </a:solidFill>
                <a:latin typeface="Georgia" pitchFamily="34" charset="0"/>
                <a:ea typeface="Georgia" pitchFamily="34" charset="-122"/>
                <a:cs typeface="Georgia" pitchFamily="34" charset="-120"/>
              </a:rPr>
              <a:t>02</a:t>
            </a:r>
            <a:endParaRPr lang="en-US" sz="2600" dirty="0"/>
          </a:p>
        </p:txBody>
      </p:sp>
      <p:sp>
        <p:nvSpPr>
          <p:cNvPr id="8" name="Text 5"/>
          <p:cNvSpPr txBox="1"/>
          <p:nvPr/>
        </p:nvSpPr>
        <p:spPr>
          <a:xfrm>
            <a:off x="1371600" y="1865376"/>
            <a:ext cx="7315200" cy="548640"/>
          </a:xfrm>
          <a:prstGeom prst="rect">
            <a:avLst/>
          </a:prstGeom>
          <a:noFill/>
          <a:ln/>
        </p:spPr>
        <p:txBody>
          <a:bodyPr wrap="square" lIns="0" tIns="0" rIns="0" bIns="0" rtlCol="0" anchor="ctr"/>
          <a:lstStyle/>
          <a:p>
            <a:pPr indent="0" marL="0">
              <a:buNone/>
            </a:pPr>
            <a:r>
              <a:rPr lang="en-US" sz="1500" dirty="0">
                <a:solidFill>
                  <a:srgbClr val="F6F3EC"/>
                </a:solidFill>
                <a:latin typeface="Calibri" pitchFamily="34" charset="0"/>
                <a:ea typeface="Calibri" pitchFamily="34" charset="-122"/>
                <a:cs typeface="Calibri" pitchFamily="34" charset="-120"/>
              </a:rPr>
              <a:t>Manually identifying recurring complaints and similar historical cases is time-consuming.</a:t>
            </a:r>
            <a:endParaRPr lang="en-US" sz="1500" dirty="0"/>
          </a:p>
        </p:txBody>
      </p:sp>
      <p:sp>
        <p:nvSpPr>
          <p:cNvPr id="9" name="Shape 6"/>
          <p:cNvSpPr/>
          <p:nvPr/>
        </p:nvSpPr>
        <p:spPr>
          <a:xfrm>
            <a:off x="457200" y="2468880"/>
            <a:ext cx="8229600" cy="9144"/>
          </a:xfrm>
          <a:prstGeom prst="rect">
            <a:avLst/>
          </a:prstGeom>
          <a:solidFill>
            <a:srgbClr val="2A3040"/>
          </a:solidFill>
          <a:ln w="12700">
            <a:solidFill>
              <a:srgbClr val="2A3040"/>
            </a:solidFill>
            <a:prstDash val="solid"/>
          </a:ln>
        </p:spPr>
      </p:sp>
      <p:sp>
        <p:nvSpPr>
          <p:cNvPr id="10" name="Text 7"/>
          <p:cNvSpPr txBox="1"/>
          <p:nvPr/>
        </p:nvSpPr>
        <p:spPr>
          <a:xfrm>
            <a:off x="457200" y="2542032"/>
            <a:ext cx="822960" cy="548640"/>
          </a:xfrm>
          <a:prstGeom prst="rect">
            <a:avLst/>
          </a:prstGeom>
          <a:noFill/>
          <a:ln/>
        </p:spPr>
        <p:txBody>
          <a:bodyPr wrap="square" lIns="0" tIns="0" rIns="0" bIns="0" rtlCol="0" anchor="t"/>
          <a:lstStyle/>
          <a:p>
            <a:pPr indent="0" marL="0">
              <a:buNone/>
            </a:pPr>
            <a:r>
              <a:rPr lang="en-US" sz="2600" dirty="0">
                <a:solidFill>
                  <a:srgbClr val="E8590C"/>
                </a:solidFill>
                <a:latin typeface="Georgia" pitchFamily="34" charset="0"/>
                <a:ea typeface="Georgia" pitchFamily="34" charset="-122"/>
                <a:cs typeface="Georgia" pitchFamily="34" charset="-120"/>
              </a:rPr>
              <a:t>03</a:t>
            </a:r>
            <a:endParaRPr lang="en-US" sz="2600" dirty="0"/>
          </a:p>
        </p:txBody>
      </p:sp>
      <p:sp>
        <p:nvSpPr>
          <p:cNvPr id="11" name="Text 8"/>
          <p:cNvSpPr txBox="1"/>
          <p:nvPr/>
        </p:nvSpPr>
        <p:spPr>
          <a:xfrm>
            <a:off x="1371600" y="2542032"/>
            <a:ext cx="7315200" cy="548640"/>
          </a:xfrm>
          <a:prstGeom prst="rect">
            <a:avLst/>
          </a:prstGeom>
          <a:noFill/>
          <a:ln/>
        </p:spPr>
        <p:txBody>
          <a:bodyPr wrap="square" lIns="0" tIns="0" rIns="0" bIns="0" rtlCol="0" anchor="ctr"/>
          <a:lstStyle/>
          <a:p>
            <a:pPr indent="0" marL="0">
              <a:buNone/>
            </a:pPr>
            <a:r>
              <a:rPr lang="en-US" sz="1500" dirty="0">
                <a:solidFill>
                  <a:srgbClr val="F6F3EC"/>
                </a:solidFill>
                <a:latin typeface="Calibri" pitchFamily="34" charset="0"/>
                <a:ea typeface="Calibri" pitchFamily="34" charset="-122"/>
                <a:cs typeface="Calibri" pitchFamily="34" charset="-120"/>
              </a:rPr>
              <a:t>Understanding the root causes of poor ratings and deciding which issues to prioritize is difficult.</a:t>
            </a:r>
            <a:endParaRPr lang="en-US" sz="1500" dirty="0"/>
          </a:p>
        </p:txBody>
      </p:sp>
      <p:sp>
        <p:nvSpPr>
          <p:cNvPr id="12" name="Shape 9"/>
          <p:cNvSpPr/>
          <p:nvPr/>
        </p:nvSpPr>
        <p:spPr>
          <a:xfrm>
            <a:off x="457200" y="3145536"/>
            <a:ext cx="8229600" cy="9144"/>
          </a:xfrm>
          <a:prstGeom prst="rect">
            <a:avLst/>
          </a:prstGeom>
          <a:solidFill>
            <a:srgbClr val="2A3040"/>
          </a:solidFill>
          <a:ln w="12700">
            <a:solidFill>
              <a:srgbClr val="2A3040"/>
            </a:solidFill>
            <a:prstDash val="solid"/>
          </a:ln>
        </p:spPr>
      </p:sp>
      <p:sp>
        <p:nvSpPr>
          <p:cNvPr id="13" name="Text 10"/>
          <p:cNvSpPr txBox="1"/>
          <p:nvPr/>
        </p:nvSpPr>
        <p:spPr>
          <a:xfrm>
            <a:off x="457200" y="3218688"/>
            <a:ext cx="822960" cy="548640"/>
          </a:xfrm>
          <a:prstGeom prst="rect">
            <a:avLst/>
          </a:prstGeom>
          <a:noFill/>
          <a:ln/>
        </p:spPr>
        <p:txBody>
          <a:bodyPr wrap="square" lIns="0" tIns="0" rIns="0" bIns="0" rtlCol="0" anchor="t"/>
          <a:lstStyle/>
          <a:p>
            <a:pPr indent="0" marL="0">
              <a:buNone/>
            </a:pPr>
            <a:r>
              <a:rPr lang="en-US" sz="2600" dirty="0">
                <a:solidFill>
                  <a:srgbClr val="E8590C"/>
                </a:solidFill>
                <a:latin typeface="Georgia" pitchFamily="34" charset="0"/>
                <a:ea typeface="Georgia" pitchFamily="34" charset="-122"/>
                <a:cs typeface="Georgia" pitchFamily="34" charset="-120"/>
              </a:rPr>
              <a:t>04</a:t>
            </a:r>
            <a:endParaRPr lang="en-US" sz="2600" dirty="0"/>
          </a:p>
        </p:txBody>
      </p:sp>
      <p:sp>
        <p:nvSpPr>
          <p:cNvPr id="14" name="Text 11"/>
          <p:cNvSpPr txBox="1"/>
          <p:nvPr/>
        </p:nvSpPr>
        <p:spPr>
          <a:xfrm>
            <a:off x="1371600" y="3218688"/>
            <a:ext cx="7315200" cy="548640"/>
          </a:xfrm>
          <a:prstGeom prst="rect">
            <a:avLst/>
          </a:prstGeom>
          <a:noFill/>
          <a:ln/>
        </p:spPr>
        <p:txBody>
          <a:bodyPr wrap="square" lIns="0" tIns="0" rIns="0" bIns="0" rtlCol="0" anchor="ctr"/>
          <a:lstStyle/>
          <a:p>
            <a:pPr indent="0" marL="0">
              <a:buNone/>
            </a:pPr>
            <a:r>
              <a:rPr lang="en-US" sz="1500" dirty="0">
                <a:solidFill>
                  <a:srgbClr val="F6F3EC"/>
                </a:solidFill>
                <a:latin typeface="Calibri" pitchFamily="34" charset="0"/>
                <a:ea typeface="Calibri" pitchFamily="34" charset="-122"/>
                <a:cs typeface="Calibri" pitchFamily="34" charset="-120"/>
              </a:rPr>
              <a:t>Restaurant managers lack an efficient way to turn unstructured customer feedback into actionable operational improvements.</a:t>
            </a:r>
            <a:endParaRPr lang="en-US" sz="1500" dirty="0"/>
          </a:p>
        </p:txBody>
      </p:sp>
      <p:sp>
        <p:nvSpPr>
          <p:cNvPr id="15" name="Text 12"/>
          <p:cNvSpPr txBox="1"/>
          <p:nvPr/>
        </p:nvSpPr>
        <p:spPr>
          <a:xfrm>
            <a:off x="457200" y="4069080"/>
            <a:ext cx="8229600" cy="731520"/>
          </a:xfrm>
          <a:prstGeom prst="rect">
            <a:avLst/>
          </a:prstGeom>
          <a:noFill/>
          <a:ln/>
        </p:spPr>
        <p:txBody>
          <a:bodyPr wrap="square" lIns="0" tIns="0" rIns="0" bIns="0" rtlCol="0" anchor="t"/>
          <a:lstStyle/>
          <a:p>
            <a:pPr indent="0" marL="0">
              <a:buNone/>
            </a:pPr>
            <a:r>
              <a:rPr lang="en-US" sz="1500" b="1" dirty="0">
                <a:solidFill>
                  <a:srgbClr val="E8590C"/>
                </a:solidFill>
                <a:latin typeface="Calibri" pitchFamily="34" charset="0"/>
                <a:ea typeface="Calibri" pitchFamily="34" charset="-122"/>
                <a:cs typeface="Calibri" pitchFamily="34" charset="-120"/>
              </a:rPr>
              <a:t>Objective: </a:t>
            </a:r>
            <a:pPr indent="0" marL="0">
              <a:buNone/>
            </a:pPr>
            <a:r>
              <a:rPr lang="en-US" sz="1500" dirty="0">
                <a:solidFill>
                  <a:srgbClr val="F6F3EC"/>
                </a:solidFill>
                <a:latin typeface="Calibri" pitchFamily="34" charset="0"/>
                <a:ea typeface="Calibri" pitchFamily="34" charset="-122"/>
                <a:cs typeface="Calibri" pitchFamily="34" charset="-120"/>
              </a:rPr>
              <a:t>Develop an AI-powered system that retrieves relevant historical reviews, analyzes customer complaints, and recommends evidence-based corrective actions.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3" name="Shape 0"/>
          <p:cNvSpPr/>
          <p:nvPr/>
        </p:nvSpPr>
        <p:spPr>
          <a:xfrm>
            <a:off x="0" y="0"/>
            <a:ext cx="2468880" cy="5143500"/>
          </a:xfrm>
          <a:prstGeom prst="rect">
            <a:avLst/>
          </a:prstGeom>
          <a:solidFill>
            <a:srgbClr val="1B1F2A"/>
          </a:solidFill>
          <a:ln w="12700">
            <a:solidFill>
              <a:srgbClr val="1B1F2A"/>
            </a:solidFill>
            <a:prstDash val="solid"/>
          </a:ln>
        </p:spPr>
      </p:sp>
      <p:sp>
        <p:nvSpPr>
          <p:cNvPr id="4" name="Text 1"/>
          <p:cNvSpPr txBox="1"/>
          <p:nvPr/>
        </p:nvSpPr>
        <p:spPr>
          <a:xfrm>
            <a:off x="365760" y="548640"/>
            <a:ext cx="1828800" cy="1188720"/>
          </a:xfrm>
          <a:prstGeom prst="rect">
            <a:avLst/>
          </a:prstGeom>
          <a:noFill/>
          <a:ln/>
        </p:spPr>
        <p:txBody>
          <a:bodyPr wrap="square" lIns="0" tIns="0" rIns="0" bIns="0" rtlCol="0" anchor="t"/>
          <a:lstStyle/>
          <a:p>
            <a:pPr indent="0" marL="0">
              <a:buNone/>
            </a:pPr>
            <a:r>
              <a:rPr lang="en-US" sz="2800" dirty="0">
                <a:solidFill>
                  <a:srgbClr val="F6F3EC"/>
                </a:solidFill>
                <a:latin typeface="Georgia" pitchFamily="34" charset="0"/>
                <a:ea typeface="Georgia" pitchFamily="34" charset="-122"/>
                <a:cs typeface="Georgia" pitchFamily="34" charset="-120"/>
              </a:rPr>
              <a:t>Proposed Solution</a:t>
            </a:r>
            <a:endParaRPr lang="en-US" sz="2800" dirty="0"/>
          </a:p>
        </p:txBody>
      </p:sp>
      <p:sp>
        <p:nvSpPr>
          <p:cNvPr id="5" name="Shape 2"/>
          <p:cNvSpPr/>
          <p:nvPr/>
        </p:nvSpPr>
        <p:spPr>
          <a:xfrm>
            <a:off x="365760" y="1828800"/>
            <a:ext cx="548640" cy="36576"/>
          </a:xfrm>
          <a:prstGeom prst="rect">
            <a:avLst/>
          </a:prstGeom>
          <a:solidFill>
            <a:srgbClr val="E8590C"/>
          </a:solidFill>
          <a:ln w="12700">
            <a:solidFill>
              <a:srgbClr val="E8590C"/>
            </a:solidFill>
            <a:prstDash val="solid"/>
          </a:ln>
        </p:spPr>
      </p:sp>
      <p:sp>
        <p:nvSpPr>
          <p:cNvPr id="6" name="Shape 3"/>
          <p:cNvSpPr/>
          <p:nvPr/>
        </p:nvSpPr>
        <p:spPr>
          <a:xfrm>
            <a:off x="2834640" y="557784"/>
            <a:ext cx="109728" cy="109728"/>
          </a:xfrm>
          <a:prstGeom prst="ellipse">
            <a:avLst/>
          </a:prstGeom>
          <a:solidFill>
            <a:srgbClr val="E8590C"/>
          </a:solidFill>
          <a:ln w="12700">
            <a:solidFill>
              <a:srgbClr val="E8590C"/>
            </a:solidFill>
            <a:prstDash val="solid"/>
          </a:ln>
        </p:spPr>
      </p:sp>
      <p:sp>
        <p:nvSpPr>
          <p:cNvPr id="7" name="Text 4"/>
          <p:cNvSpPr txBox="1"/>
          <p:nvPr/>
        </p:nvSpPr>
        <p:spPr>
          <a:xfrm>
            <a:off x="3108960" y="502920"/>
            <a:ext cx="5577840" cy="676656"/>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The proposed system is an AI-powered Restaurant Operations and Review Assistant designed to analyze historical customer reviews and support restaurant managers in making informed operational decisions.</a:t>
            </a:r>
            <a:endParaRPr lang="en-US" sz="1300" dirty="0"/>
          </a:p>
        </p:txBody>
      </p:sp>
      <p:sp>
        <p:nvSpPr>
          <p:cNvPr id="8" name="Shape 5"/>
          <p:cNvSpPr/>
          <p:nvPr/>
        </p:nvSpPr>
        <p:spPr>
          <a:xfrm>
            <a:off x="2834640" y="1417320"/>
            <a:ext cx="109728" cy="109728"/>
          </a:xfrm>
          <a:prstGeom prst="ellipse">
            <a:avLst/>
          </a:prstGeom>
          <a:solidFill>
            <a:srgbClr val="E8590C"/>
          </a:solidFill>
          <a:ln w="12700">
            <a:solidFill>
              <a:srgbClr val="E8590C"/>
            </a:solidFill>
            <a:prstDash val="solid"/>
          </a:ln>
        </p:spPr>
      </p:sp>
      <p:sp>
        <p:nvSpPr>
          <p:cNvPr id="9" name="Text 6"/>
          <p:cNvSpPr txBox="1"/>
          <p:nvPr/>
        </p:nvSpPr>
        <p:spPr>
          <a:xfrm>
            <a:off x="3108960" y="1362456"/>
            <a:ext cx="5577840" cy="676656"/>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It uses Retrieval-Augmented Generation (RAG) and hybrid search techniques to retrieve relevant reviews based on keyword matching and semantic similarity.</a:t>
            </a:r>
            <a:endParaRPr lang="en-US" sz="1300" dirty="0"/>
          </a:p>
        </p:txBody>
      </p:sp>
      <p:sp>
        <p:nvSpPr>
          <p:cNvPr id="10" name="Shape 7"/>
          <p:cNvSpPr/>
          <p:nvPr/>
        </p:nvSpPr>
        <p:spPr>
          <a:xfrm>
            <a:off x="2834640" y="2276856"/>
            <a:ext cx="109728" cy="109728"/>
          </a:xfrm>
          <a:prstGeom prst="ellipse">
            <a:avLst/>
          </a:prstGeom>
          <a:solidFill>
            <a:srgbClr val="E8590C"/>
          </a:solidFill>
          <a:ln w="12700">
            <a:solidFill>
              <a:srgbClr val="E8590C"/>
            </a:solidFill>
            <a:prstDash val="solid"/>
          </a:ln>
        </p:spPr>
      </p:sp>
      <p:sp>
        <p:nvSpPr>
          <p:cNvPr id="11" name="Text 8"/>
          <p:cNvSpPr txBox="1"/>
          <p:nvPr/>
        </p:nvSpPr>
        <p:spPr>
          <a:xfrm>
            <a:off x="3108960" y="2221992"/>
            <a:ext cx="5577840" cy="676656"/>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The retrieved information is analyzed to classify customer complaints, prioritize operational issues, identify recurring aspects and potential root causes, and recommend appropriate corrective actions.</a:t>
            </a:r>
            <a:endParaRPr lang="en-US" sz="1300" dirty="0"/>
          </a:p>
        </p:txBody>
      </p:sp>
      <p:sp>
        <p:nvSpPr>
          <p:cNvPr id="12" name="Shape 9"/>
          <p:cNvSpPr/>
          <p:nvPr/>
        </p:nvSpPr>
        <p:spPr>
          <a:xfrm>
            <a:off x="2834640" y="3136392"/>
            <a:ext cx="109728" cy="109728"/>
          </a:xfrm>
          <a:prstGeom prst="ellipse">
            <a:avLst/>
          </a:prstGeom>
          <a:solidFill>
            <a:srgbClr val="E8590C"/>
          </a:solidFill>
          <a:ln w="12700">
            <a:solidFill>
              <a:srgbClr val="E8590C"/>
            </a:solidFill>
            <a:prstDash val="solid"/>
          </a:ln>
        </p:spPr>
      </p:sp>
      <p:sp>
        <p:nvSpPr>
          <p:cNvPr id="13" name="Text 10"/>
          <p:cNvSpPr txBox="1"/>
          <p:nvPr/>
        </p:nvSpPr>
        <p:spPr>
          <a:xfrm>
            <a:off x="3108960" y="3081528"/>
            <a:ext cx="5577840" cy="886968"/>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A multi-agent approach supports specialized analysis and report generation, while advanced features such as customer satisfaction prediction, complaint trend analysis, quality evaluation, multilingual summaries, and feedback mechanisms extend the system's analytical capabilities.</a:t>
            </a:r>
            <a:endParaRPr lang="en-US" sz="1300" dirty="0"/>
          </a:p>
        </p:txBody>
      </p:sp>
      <p:sp>
        <p:nvSpPr>
          <p:cNvPr id="14" name="Shape 11"/>
          <p:cNvSpPr/>
          <p:nvPr/>
        </p:nvSpPr>
        <p:spPr>
          <a:xfrm>
            <a:off x="2834640" y="4206240"/>
            <a:ext cx="109728" cy="109728"/>
          </a:xfrm>
          <a:prstGeom prst="ellipse">
            <a:avLst/>
          </a:prstGeom>
          <a:solidFill>
            <a:srgbClr val="E8590C"/>
          </a:solidFill>
          <a:ln w="12700">
            <a:solidFill>
              <a:srgbClr val="E8590C"/>
            </a:solidFill>
            <a:prstDash val="solid"/>
          </a:ln>
        </p:spPr>
      </p:sp>
      <p:sp>
        <p:nvSpPr>
          <p:cNvPr id="15" name="Text 12"/>
          <p:cNvSpPr txBox="1"/>
          <p:nvPr/>
        </p:nvSpPr>
        <p:spPr>
          <a:xfrm>
            <a:off x="3108960" y="4151376"/>
            <a:ext cx="5577840" cy="676656"/>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The final output provides restaurant managers with relevant historical evidence, key findings, and actionable recommendations to improve restaurant operations and customer experience.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400" dirty="0">
                <a:solidFill>
                  <a:srgbClr val="1B1F2A"/>
                </a:solidFill>
                <a:latin typeface="Georgia" pitchFamily="34" charset="0"/>
                <a:ea typeface="Georgia" pitchFamily="34" charset="-122"/>
                <a:cs typeface="Georgia" pitchFamily="34" charset="-120"/>
              </a:rPr>
              <a:t>Project Workflow</a:t>
            </a:r>
            <a:endParaRPr lang="en-US" sz="3400" dirty="0"/>
          </a:p>
        </p:txBody>
      </p:sp>
      <p:sp>
        <p:nvSpPr>
          <p:cNvPr id="4" name="Shape 1"/>
          <p:cNvSpPr/>
          <p:nvPr/>
        </p:nvSpPr>
        <p:spPr>
          <a:xfrm>
            <a:off x="1485900" y="1508760"/>
            <a:ext cx="6172200" cy="0"/>
          </a:xfrm>
          <a:prstGeom prst="line">
            <a:avLst/>
          </a:prstGeom>
          <a:noFill/>
          <a:ln w="38100">
            <a:solidFill>
              <a:srgbClr val="E0DCCF"/>
            </a:solidFill>
            <a:prstDash val="solid"/>
          </a:ln>
        </p:spPr>
      </p:sp>
      <p:sp>
        <p:nvSpPr>
          <p:cNvPr id="5" name="Shape 2"/>
          <p:cNvSpPr/>
          <p:nvPr/>
        </p:nvSpPr>
        <p:spPr>
          <a:xfrm>
            <a:off x="1485900" y="3429000"/>
            <a:ext cx="6172200" cy="0"/>
          </a:xfrm>
          <a:prstGeom prst="line">
            <a:avLst/>
          </a:prstGeom>
          <a:noFill/>
          <a:ln w="38100">
            <a:solidFill>
              <a:srgbClr val="E0DCCF"/>
            </a:solidFill>
            <a:prstDash val="solid"/>
          </a:ln>
        </p:spPr>
      </p:sp>
      <p:sp>
        <p:nvSpPr>
          <p:cNvPr id="6" name="Shape 3"/>
          <p:cNvSpPr/>
          <p:nvPr/>
        </p:nvSpPr>
        <p:spPr>
          <a:xfrm>
            <a:off x="1211580" y="1234440"/>
            <a:ext cx="548640" cy="548640"/>
          </a:xfrm>
          <a:prstGeom prst="ellipse">
            <a:avLst/>
          </a:prstGeom>
          <a:solidFill>
            <a:srgbClr val="E8590C"/>
          </a:solidFill>
          <a:ln w="25400">
            <a:solidFill>
              <a:srgbClr val="F6F3EC"/>
            </a:solidFill>
            <a:prstDash val="solid"/>
          </a:ln>
        </p:spPr>
      </p:sp>
      <p:sp>
        <p:nvSpPr>
          <p:cNvPr id="7" name="Text 4"/>
          <p:cNvSpPr txBox="1"/>
          <p:nvPr/>
        </p:nvSpPr>
        <p:spPr>
          <a:xfrm>
            <a:off x="121158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571500" y="189280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Yelp Dataset</a:t>
            </a:r>
            <a:endParaRPr lang="en-US" sz="1300" dirty="0"/>
          </a:p>
        </p:txBody>
      </p:sp>
      <p:sp>
        <p:nvSpPr>
          <p:cNvPr id="9" name="Text 6"/>
          <p:cNvSpPr txBox="1"/>
          <p:nvPr/>
        </p:nvSpPr>
        <p:spPr>
          <a:xfrm>
            <a:off x="571500" y="219456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Business records and customer reviews</a:t>
            </a:r>
            <a:endParaRPr lang="en-US" sz="1050" dirty="0"/>
          </a:p>
        </p:txBody>
      </p:sp>
      <p:sp>
        <p:nvSpPr>
          <p:cNvPr id="10" name="Shape 7"/>
          <p:cNvSpPr/>
          <p:nvPr/>
        </p:nvSpPr>
        <p:spPr>
          <a:xfrm>
            <a:off x="3268980" y="1234440"/>
            <a:ext cx="548640" cy="548640"/>
          </a:xfrm>
          <a:prstGeom prst="ellipse">
            <a:avLst/>
          </a:prstGeom>
          <a:solidFill>
            <a:srgbClr val="E8590C"/>
          </a:solidFill>
          <a:ln w="25400">
            <a:solidFill>
              <a:srgbClr val="F6F3EC"/>
            </a:solidFill>
            <a:prstDash val="solid"/>
          </a:ln>
        </p:spPr>
      </p:sp>
      <p:sp>
        <p:nvSpPr>
          <p:cNvPr id="11" name="Text 8"/>
          <p:cNvSpPr txBox="1"/>
          <p:nvPr/>
        </p:nvSpPr>
        <p:spPr>
          <a:xfrm>
            <a:off x="326898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2628900" y="189280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Ingestion</a:t>
            </a:r>
            <a:endParaRPr lang="en-US" sz="1300" dirty="0"/>
          </a:p>
        </p:txBody>
      </p:sp>
      <p:sp>
        <p:nvSpPr>
          <p:cNvPr id="13" name="Text 10"/>
          <p:cNvSpPr txBox="1"/>
          <p:nvPr/>
        </p:nvSpPr>
        <p:spPr>
          <a:xfrm>
            <a:off x="2628900" y="219456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Prepare review text, ratings and metadata</a:t>
            </a:r>
            <a:endParaRPr lang="en-US" sz="1050" dirty="0"/>
          </a:p>
        </p:txBody>
      </p:sp>
      <p:sp>
        <p:nvSpPr>
          <p:cNvPr id="14" name="Shape 11"/>
          <p:cNvSpPr/>
          <p:nvPr/>
        </p:nvSpPr>
        <p:spPr>
          <a:xfrm>
            <a:off x="5326380" y="1234440"/>
            <a:ext cx="548640" cy="548640"/>
          </a:xfrm>
          <a:prstGeom prst="ellipse">
            <a:avLst/>
          </a:prstGeom>
          <a:solidFill>
            <a:srgbClr val="E8590C"/>
          </a:solidFill>
          <a:ln w="25400">
            <a:solidFill>
              <a:srgbClr val="F6F3EC"/>
            </a:solidFill>
            <a:prstDash val="solid"/>
          </a:ln>
        </p:spPr>
      </p:sp>
      <p:sp>
        <p:nvSpPr>
          <p:cNvPr id="15" name="Text 12"/>
          <p:cNvSpPr txBox="1"/>
          <p:nvPr/>
        </p:nvSpPr>
        <p:spPr>
          <a:xfrm>
            <a:off x="532638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3"/>
          <p:cNvSpPr txBox="1"/>
          <p:nvPr/>
        </p:nvSpPr>
        <p:spPr>
          <a:xfrm>
            <a:off x="4686300" y="189280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Storage &amp; Indexing</a:t>
            </a:r>
            <a:endParaRPr lang="en-US" sz="1300" dirty="0"/>
          </a:p>
        </p:txBody>
      </p:sp>
      <p:sp>
        <p:nvSpPr>
          <p:cNvPr id="17" name="Text 14"/>
          <p:cNvSpPr txBox="1"/>
          <p:nvPr/>
        </p:nvSpPr>
        <p:spPr>
          <a:xfrm>
            <a:off x="4686300" y="219456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PostgreSQL · Qdrant · BM25 index</a:t>
            </a:r>
            <a:endParaRPr lang="en-US" sz="1050" dirty="0"/>
          </a:p>
        </p:txBody>
      </p:sp>
      <p:sp>
        <p:nvSpPr>
          <p:cNvPr id="18" name="Shape 15"/>
          <p:cNvSpPr/>
          <p:nvPr/>
        </p:nvSpPr>
        <p:spPr>
          <a:xfrm>
            <a:off x="7383780" y="1234440"/>
            <a:ext cx="548640" cy="548640"/>
          </a:xfrm>
          <a:prstGeom prst="ellipse">
            <a:avLst/>
          </a:prstGeom>
          <a:solidFill>
            <a:srgbClr val="E8590C"/>
          </a:solidFill>
          <a:ln w="25400">
            <a:solidFill>
              <a:srgbClr val="F6F3EC"/>
            </a:solidFill>
            <a:prstDash val="solid"/>
          </a:ln>
        </p:spPr>
      </p:sp>
      <p:sp>
        <p:nvSpPr>
          <p:cNvPr id="19" name="Text 16"/>
          <p:cNvSpPr txBox="1"/>
          <p:nvPr/>
        </p:nvSpPr>
        <p:spPr>
          <a:xfrm>
            <a:off x="7383780" y="1234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7"/>
          <p:cNvSpPr txBox="1"/>
          <p:nvPr/>
        </p:nvSpPr>
        <p:spPr>
          <a:xfrm>
            <a:off x="6743700" y="189280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User Query</a:t>
            </a:r>
            <a:endParaRPr lang="en-US" sz="1300" dirty="0"/>
          </a:p>
        </p:txBody>
      </p:sp>
      <p:sp>
        <p:nvSpPr>
          <p:cNvPr id="21" name="Text 18"/>
          <p:cNvSpPr txBox="1"/>
          <p:nvPr/>
        </p:nvSpPr>
        <p:spPr>
          <a:xfrm>
            <a:off x="6743700" y="219456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React → FastAPI → input validation</a:t>
            </a:r>
            <a:endParaRPr lang="en-US" sz="1050" dirty="0"/>
          </a:p>
        </p:txBody>
      </p:sp>
      <p:sp>
        <p:nvSpPr>
          <p:cNvPr id="22" name="Shape 19"/>
          <p:cNvSpPr/>
          <p:nvPr/>
        </p:nvSpPr>
        <p:spPr>
          <a:xfrm>
            <a:off x="1211580" y="3154680"/>
            <a:ext cx="548640" cy="548640"/>
          </a:xfrm>
          <a:prstGeom prst="ellipse">
            <a:avLst/>
          </a:prstGeom>
          <a:solidFill>
            <a:srgbClr val="E8590C"/>
          </a:solidFill>
          <a:ln w="25400">
            <a:solidFill>
              <a:srgbClr val="F6F3EC"/>
            </a:solidFill>
            <a:prstDash val="solid"/>
          </a:ln>
        </p:spPr>
      </p:sp>
      <p:sp>
        <p:nvSpPr>
          <p:cNvPr id="23" name="Text 20"/>
          <p:cNvSpPr txBox="1"/>
          <p:nvPr/>
        </p:nvSpPr>
        <p:spPr>
          <a:xfrm>
            <a:off x="1211580"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1"/>
          <p:cNvSpPr txBox="1"/>
          <p:nvPr/>
        </p:nvSpPr>
        <p:spPr>
          <a:xfrm>
            <a:off x="571500" y="381304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Hybrid Retrieval</a:t>
            </a:r>
            <a:endParaRPr lang="en-US" sz="1300" dirty="0"/>
          </a:p>
        </p:txBody>
      </p:sp>
      <p:sp>
        <p:nvSpPr>
          <p:cNvPr id="25" name="Text 22"/>
          <p:cNvSpPr txBox="1"/>
          <p:nvPr/>
        </p:nvSpPr>
        <p:spPr>
          <a:xfrm>
            <a:off x="571500" y="411480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Keyword + semantic search, ranking and reranking</a:t>
            </a:r>
            <a:endParaRPr lang="en-US" sz="1050" dirty="0"/>
          </a:p>
        </p:txBody>
      </p:sp>
      <p:sp>
        <p:nvSpPr>
          <p:cNvPr id="26" name="Shape 23"/>
          <p:cNvSpPr/>
          <p:nvPr/>
        </p:nvSpPr>
        <p:spPr>
          <a:xfrm>
            <a:off x="3268980" y="3154680"/>
            <a:ext cx="548640" cy="548640"/>
          </a:xfrm>
          <a:prstGeom prst="ellipse">
            <a:avLst/>
          </a:prstGeom>
          <a:solidFill>
            <a:srgbClr val="E8590C"/>
          </a:solidFill>
          <a:ln w="25400">
            <a:solidFill>
              <a:srgbClr val="F6F3EC"/>
            </a:solidFill>
            <a:prstDash val="solid"/>
          </a:ln>
        </p:spPr>
      </p:sp>
      <p:sp>
        <p:nvSpPr>
          <p:cNvPr id="27" name="Text 24"/>
          <p:cNvSpPr txBox="1"/>
          <p:nvPr/>
        </p:nvSpPr>
        <p:spPr>
          <a:xfrm>
            <a:off x="3268980"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8" name="Text 25"/>
          <p:cNvSpPr txBox="1"/>
          <p:nvPr/>
        </p:nvSpPr>
        <p:spPr>
          <a:xfrm>
            <a:off x="2628900" y="381304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Evidence Validation</a:t>
            </a:r>
            <a:endParaRPr lang="en-US" sz="1300" dirty="0"/>
          </a:p>
        </p:txBody>
      </p:sp>
      <p:sp>
        <p:nvSpPr>
          <p:cNvPr id="29" name="Text 26"/>
          <p:cNvSpPr txBox="1"/>
          <p:nvPr/>
        </p:nvSpPr>
        <p:spPr>
          <a:xfrm>
            <a:off x="2628900" y="411480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Check review relevance and support</a:t>
            </a:r>
            <a:endParaRPr lang="en-US" sz="1050" dirty="0"/>
          </a:p>
        </p:txBody>
      </p:sp>
      <p:sp>
        <p:nvSpPr>
          <p:cNvPr id="30" name="Shape 27"/>
          <p:cNvSpPr/>
          <p:nvPr/>
        </p:nvSpPr>
        <p:spPr>
          <a:xfrm>
            <a:off x="5326380" y="3154680"/>
            <a:ext cx="548640" cy="548640"/>
          </a:xfrm>
          <a:prstGeom prst="ellipse">
            <a:avLst/>
          </a:prstGeom>
          <a:solidFill>
            <a:srgbClr val="E8590C"/>
          </a:solidFill>
          <a:ln w="25400">
            <a:solidFill>
              <a:srgbClr val="F6F3EC"/>
            </a:solidFill>
            <a:prstDash val="solid"/>
          </a:ln>
        </p:spPr>
      </p:sp>
      <p:sp>
        <p:nvSpPr>
          <p:cNvPr id="31" name="Text 28"/>
          <p:cNvSpPr txBox="1"/>
          <p:nvPr/>
        </p:nvSpPr>
        <p:spPr>
          <a:xfrm>
            <a:off x="5326380"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2" name="Text 29"/>
          <p:cNvSpPr txBox="1"/>
          <p:nvPr/>
        </p:nvSpPr>
        <p:spPr>
          <a:xfrm>
            <a:off x="4686300" y="381304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Agent Analysis</a:t>
            </a:r>
            <a:endParaRPr lang="en-US" sz="1300" dirty="0"/>
          </a:p>
        </p:txBody>
      </p:sp>
      <p:sp>
        <p:nvSpPr>
          <p:cNvPr id="33" name="Text 30"/>
          <p:cNvSpPr txBox="1"/>
          <p:nvPr/>
        </p:nvSpPr>
        <p:spPr>
          <a:xfrm>
            <a:off x="4686300" y="411480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Complaint analysis and recommendations</a:t>
            </a:r>
            <a:endParaRPr lang="en-US" sz="1050" dirty="0"/>
          </a:p>
        </p:txBody>
      </p:sp>
      <p:sp>
        <p:nvSpPr>
          <p:cNvPr id="34" name="Shape 31"/>
          <p:cNvSpPr/>
          <p:nvPr/>
        </p:nvSpPr>
        <p:spPr>
          <a:xfrm>
            <a:off x="7383780" y="3154680"/>
            <a:ext cx="548640" cy="548640"/>
          </a:xfrm>
          <a:prstGeom prst="ellipse">
            <a:avLst/>
          </a:prstGeom>
          <a:solidFill>
            <a:srgbClr val="1B1F2A"/>
          </a:solidFill>
          <a:ln w="25400">
            <a:solidFill>
              <a:srgbClr val="F6F3EC"/>
            </a:solidFill>
            <a:prstDash val="solid"/>
          </a:ln>
        </p:spPr>
      </p:sp>
      <p:sp>
        <p:nvSpPr>
          <p:cNvPr id="35" name="Text 32"/>
          <p:cNvSpPr txBox="1"/>
          <p:nvPr/>
        </p:nvSpPr>
        <p:spPr>
          <a:xfrm>
            <a:off x="7383780" y="3154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6" name="Text 33"/>
          <p:cNvSpPr txBox="1"/>
          <p:nvPr/>
        </p:nvSpPr>
        <p:spPr>
          <a:xfrm>
            <a:off x="6743700" y="3813048"/>
            <a:ext cx="1828800" cy="274320"/>
          </a:xfrm>
          <a:prstGeom prst="rect">
            <a:avLst/>
          </a:prstGeom>
          <a:noFill/>
          <a:ln/>
        </p:spPr>
        <p:txBody>
          <a:bodyPr wrap="square" lIns="0" tIns="0" rIns="0" bIns="0" rtlCol="0" anchor="t"/>
          <a:lstStyle/>
          <a:p>
            <a:pPr algn="ctr" indent="0" marL="0">
              <a:buNone/>
            </a:pPr>
            <a:r>
              <a:rPr lang="en-US" sz="1300" b="1" dirty="0">
                <a:solidFill>
                  <a:srgbClr val="1B1F2A"/>
                </a:solidFill>
                <a:latin typeface="Calibri" pitchFamily="34" charset="0"/>
                <a:ea typeface="Calibri" pitchFamily="34" charset="-122"/>
                <a:cs typeface="Calibri" pitchFamily="34" charset="-120"/>
              </a:rPr>
              <a:t>Manager Report</a:t>
            </a:r>
            <a:endParaRPr lang="en-US" sz="1300" dirty="0"/>
          </a:p>
        </p:txBody>
      </p:sp>
      <p:sp>
        <p:nvSpPr>
          <p:cNvPr id="37" name="Text 34"/>
          <p:cNvSpPr txBox="1"/>
          <p:nvPr/>
        </p:nvSpPr>
        <p:spPr>
          <a:xfrm>
            <a:off x="6743700" y="4114800"/>
            <a:ext cx="1828800" cy="640080"/>
          </a:xfrm>
          <a:prstGeom prst="rect">
            <a:avLst/>
          </a:prstGeom>
          <a:noFill/>
          <a:ln/>
        </p:spPr>
        <p:txBody>
          <a:bodyPr wrap="square" lIns="0" tIns="0" rIns="0" bIns="0" rtlCol="0" anchor="t"/>
          <a:lstStyle/>
          <a:p>
            <a:pPr algn="ctr" indent="0" marL="0">
              <a:buNone/>
            </a:pPr>
            <a:r>
              <a:rPr lang="en-US" sz="1050" dirty="0">
                <a:solidFill>
                  <a:srgbClr val="4A505C"/>
                </a:solidFill>
                <a:latin typeface="Calibri" pitchFamily="34" charset="0"/>
                <a:ea typeface="Calibri" pitchFamily="34" charset="-122"/>
                <a:cs typeface="Calibri" pitchFamily="34" charset="-120"/>
              </a:rPr>
              <a:t>Evidence · findings · priority · actions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400" dirty="0">
                <a:solidFill>
                  <a:srgbClr val="1B1F2A"/>
                </a:solidFill>
                <a:latin typeface="Georgia" pitchFamily="34" charset="0"/>
                <a:ea typeface="Georgia" pitchFamily="34" charset="-122"/>
                <a:cs typeface="Georgia" pitchFamily="34" charset="-120"/>
              </a:rPr>
              <a:t>Multi-Agent System (1 of 2)</a:t>
            </a:r>
            <a:endParaRPr lang="en-US" sz="3400" dirty="0"/>
          </a:p>
        </p:txBody>
      </p:sp>
      <p:sp>
        <p:nvSpPr>
          <p:cNvPr id="4" name="Shape 1"/>
          <p:cNvSpPr/>
          <p:nvPr/>
        </p:nvSpPr>
        <p:spPr>
          <a:xfrm>
            <a:off x="457200" y="1143000"/>
            <a:ext cx="2834640" cy="676656"/>
          </a:xfrm>
          <a:prstGeom prst="rect">
            <a:avLst/>
          </a:prstGeom>
          <a:solidFill>
            <a:srgbClr val="1C7C7D"/>
          </a:solidFill>
          <a:ln w="12700">
            <a:solidFill>
              <a:srgbClr val="F6F3EC"/>
            </a:solidFill>
            <a:prstDash val="solid"/>
          </a:ln>
        </p:spPr>
      </p:sp>
      <p:sp>
        <p:nvSpPr>
          <p:cNvPr id="5" name="Text 2"/>
          <p:cNvSpPr txBox="1"/>
          <p:nvPr/>
        </p:nvSpPr>
        <p:spPr>
          <a:xfrm>
            <a:off x="640080" y="1143000"/>
            <a:ext cx="2560320" cy="67665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a:t>
            </a:r>
            <a:pPr indent="0" marL="0">
              <a:buNone/>
            </a:pPr>
            <a:r>
              <a:rPr lang="en-US" sz="1250" b="1" dirty="0">
                <a:solidFill>
                  <a:srgbClr val="FFFFFF"/>
                </a:solidFill>
                <a:latin typeface="Calibri" pitchFamily="34" charset="0"/>
                <a:ea typeface="Calibri" pitchFamily="34" charset="-122"/>
                <a:cs typeface="Calibri" pitchFamily="34" charset="-120"/>
              </a:rPr>
              <a:t>Input Validation &amp; Safety Guardrail Agent</a:t>
            </a:r>
            <a:endParaRPr lang="en-US" sz="1250" dirty="0"/>
          </a:p>
        </p:txBody>
      </p:sp>
      <p:sp>
        <p:nvSpPr>
          <p:cNvPr id="6" name="Shape 3"/>
          <p:cNvSpPr/>
          <p:nvPr/>
        </p:nvSpPr>
        <p:spPr>
          <a:xfrm>
            <a:off x="3291840" y="1143000"/>
            <a:ext cx="5394960" cy="676656"/>
          </a:xfrm>
          <a:prstGeom prst="rect">
            <a:avLst/>
          </a:prstGeom>
          <a:solidFill>
            <a:srgbClr val="FFFFFF"/>
          </a:solidFill>
          <a:ln w="12700">
            <a:solidFill>
              <a:srgbClr val="E0DCCF"/>
            </a:solidFill>
            <a:prstDash val="solid"/>
          </a:ln>
        </p:spPr>
      </p:sp>
      <p:sp>
        <p:nvSpPr>
          <p:cNvPr id="7" name="Text 4"/>
          <p:cNvSpPr txBox="1"/>
          <p:nvPr/>
        </p:nvSpPr>
        <p:spPr>
          <a:xfrm>
            <a:off x="3474720" y="1143000"/>
            <a:ext cx="5074920" cy="676656"/>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Validates and sanitizes the user's query, checks for unsafe input and prompt injection, and prevents unsupported requests from proceeding.</a:t>
            </a:r>
            <a:endParaRPr lang="en-US" sz="1150" dirty="0"/>
          </a:p>
        </p:txBody>
      </p:sp>
      <p:sp>
        <p:nvSpPr>
          <p:cNvPr id="8" name="Shape 5"/>
          <p:cNvSpPr/>
          <p:nvPr/>
        </p:nvSpPr>
        <p:spPr>
          <a:xfrm>
            <a:off x="457200" y="1911096"/>
            <a:ext cx="2834640" cy="676656"/>
          </a:xfrm>
          <a:prstGeom prst="rect">
            <a:avLst/>
          </a:prstGeom>
          <a:solidFill>
            <a:srgbClr val="1C7C7D"/>
          </a:solidFill>
          <a:ln w="12700">
            <a:solidFill>
              <a:srgbClr val="F6F3EC"/>
            </a:solidFill>
            <a:prstDash val="solid"/>
          </a:ln>
        </p:spPr>
      </p:sp>
      <p:sp>
        <p:nvSpPr>
          <p:cNvPr id="9" name="Text 6"/>
          <p:cNvSpPr txBox="1"/>
          <p:nvPr/>
        </p:nvSpPr>
        <p:spPr>
          <a:xfrm>
            <a:off x="640080" y="1911096"/>
            <a:ext cx="2560320" cy="67665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  </a:t>
            </a:r>
            <a:pPr indent="0" marL="0">
              <a:buNone/>
            </a:pPr>
            <a:r>
              <a:rPr lang="en-US" sz="1250" b="1" dirty="0">
                <a:solidFill>
                  <a:srgbClr val="FFFFFF"/>
                </a:solidFill>
                <a:latin typeface="Calibri" pitchFamily="34" charset="0"/>
                <a:ea typeface="Calibri" pitchFamily="34" charset="-122"/>
                <a:cs typeface="Calibri" pitchFamily="34" charset="-120"/>
              </a:rPr>
              <a:t>Query Understanding &amp; Semantic Intent Agent</a:t>
            </a:r>
            <a:endParaRPr lang="en-US" sz="1250" dirty="0"/>
          </a:p>
        </p:txBody>
      </p:sp>
      <p:sp>
        <p:nvSpPr>
          <p:cNvPr id="10" name="Shape 7"/>
          <p:cNvSpPr/>
          <p:nvPr/>
        </p:nvSpPr>
        <p:spPr>
          <a:xfrm>
            <a:off x="3291840" y="1911096"/>
            <a:ext cx="5394960" cy="676656"/>
          </a:xfrm>
          <a:prstGeom prst="rect">
            <a:avLst/>
          </a:prstGeom>
          <a:solidFill>
            <a:srgbClr val="FFFFFF"/>
          </a:solidFill>
          <a:ln w="12700">
            <a:solidFill>
              <a:srgbClr val="E0DCCF"/>
            </a:solidFill>
            <a:prstDash val="solid"/>
          </a:ln>
        </p:spPr>
      </p:sp>
      <p:sp>
        <p:nvSpPr>
          <p:cNvPr id="11" name="Text 8"/>
          <p:cNvSpPr txBox="1"/>
          <p:nvPr/>
        </p:nvSpPr>
        <p:spPr>
          <a:xfrm>
            <a:off x="3474720" y="1911096"/>
            <a:ext cx="5074920" cy="676656"/>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Understands the manager's question, identifies the relevant restaurant-operations aspect and intent, and prepares the query for retrieval.</a:t>
            </a:r>
            <a:endParaRPr lang="en-US" sz="1150" dirty="0"/>
          </a:p>
        </p:txBody>
      </p:sp>
      <p:sp>
        <p:nvSpPr>
          <p:cNvPr id="12" name="Shape 9"/>
          <p:cNvSpPr/>
          <p:nvPr/>
        </p:nvSpPr>
        <p:spPr>
          <a:xfrm>
            <a:off x="457200" y="2679192"/>
            <a:ext cx="2834640" cy="676656"/>
          </a:xfrm>
          <a:prstGeom prst="rect">
            <a:avLst/>
          </a:prstGeom>
          <a:solidFill>
            <a:srgbClr val="1C7C7D"/>
          </a:solidFill>
          <a:ln w="12700">
            <a:solidFill>
              <a:srgbClr val="F6F3EC"/>
            </a:solidFill>
            <a:prstDash val="solid"/>
          </a:ln>
        </p:spPr>
      </p:sp>
      <p:sp>
        <p:nvSpPr>
          <p:cNvPr id="13" name="Text 10"/>
          <p:cNvSpPr txBox="1"/>
          <p:nvPr/>
        </p:nvSpPr>
        <p:spPr>
          <a:xfrm>
            <a:off x="640080" y="2679192"/>
            <a:ext cx="2560320" cy="67665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3  </a:t>
            </a:r>
            <a:pPr indent="0" marL="0">
              <a:buNone/>
            </a:pPr>
            <a:r>
              <a:rPr lang="en-US" sz="1250" b="1" dirty="0">
                <a:solidFill>
                  <a:srgbClr val="FFFFFF"/>
                </a:solidFill>
                <a:latin typeface="Calibri" pitchFamily="34" charset="0"/>
                <a:ea typeface="Calibri" pitchFamily="34" charset="-122"/>
                <a:cs typeface="Calibri" pitchFamily="34" charset="-120"/>
              </a:rPr>
              <a:t>Hybrid Retrieval &amp; Filtering Agent</a:t>
            </a:r>
            <a:endParaRPr lang="en-US" sz="1250" dirty="0"/>
          </a:p>
        </p:txBody>
      </p:sp>
      <p:sp>
        <p:nvSpPr>
          <p:cNvPr id="14" name="Shape 11"/>
          <p:cNvSpPr/>
          <p:nvPr/>
        </p:nvSpPr>
        <p:spPr>
          <a:xfrm>
            <a:off x="3291840" y="2679192"/>
            <a:ext cx="5394960" cy="676656"/>
          </a:xfrm>
          <a:prstGeom prst="rect">
            <a:avLst/>
          </a:prstGeom>
          <a:solidFill>
            <a:srgbClr val="FFFFFF"/>
          </a:solidFill>
          <a:ln w="12700">
            <a:solidFill>
              <a:srgbClr val="E0DCCF"/>
            </a:solidFill>
            <a:prstDash val="solid"/>
          </a:ln>
        </p:spPr>
      </p:sp>
      <p:sp>
        <p:nvSpPr>
          <p:cNvPr id="15" name="Text 12"/>
          <p:cNvSpPr txBox="1"/>
          <p:nvPr/>
        </p:nvSpPr>
        <p:spPr>
          <a:xfrm>
            <a:off x="3474720" y="2679192"/>
            <a:ext cx="5074920" cy="676656"/>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Retrieves relevant historical reviews using keyword and semantic search, applies relevance ranking and filtering, and supplies evidence for analysis.</a:t>
            </a:r>
            <a:endParaRPr lang="en-US" sz="1150" dirty="0"/>
          </a:p>
        </p:txBody>
      </p:sp>
      <p:sp>
        <p:nvSpPr>
          <p:cNvPr id="16" name="Shape 13"/>
          <p:cNvSpPr/>
          <p:nvPr/>
        </p:nvSpPr>
        <p:spPr>
          <a:xfrm>
            <a:off x="457200" y="3447288"/>
            <a:ext cx="2834640" cy="676656"/>
          </a:xfrm>
          <a:prstGeom prst="rect">
            <a:avLst/>
          </a:prstGeom>
          <a:solidFill>
            <a:srgbClr val="1C7C7D"/>
          </a:solidFill>
          <a:ln w="12700">
            <a:solidFill>
              <a:srgbClr val="F6F3EC"/>
            </a:solidFill>
            <a:prstDash val="solid"/>
          </a:ln>
        </p:spPr>
      </p:sp>
      <p:sp>
        <p:nvSpPr>
          <p:cNvPr id="17" name="Text 14"/>
          <p:cNvSpPr txBox="1"/>
          <p:nvPr/>
        </p:nvSpPr>
        <p:spPr>
          <a:xfrm>
            <a:off x="640080" y="3447288"/>
            <a:ext cx="2560320" cy="67665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4  </a:t>
            </a:r>
            <a:pPr indent="0" marL="0">
              <a:buNone/>
            </a:pPr>
            <a:r>
              <a:rPr lang="en-US" sz="1250" b="1" dirty="0">
                <a:solidFill>
                  <a:srgbClr val="FFFFFF"/>
                </a:solidFill>
                <a:latin typeface="Calibri" pitchFamily="34" charset="0"/>
                <a:ea typeface="Calibri" pitchFamily="34" charset="-122"/>
                <a:cs typeface="Calibri" pitchFamily="34" charset="-120"/>
              </a:rPr>
              <a:t>Complaint Classification Agent</a:t>
            </a:r>
            <a:endParaRPr lang="en-US" sz="1250" dirty="0"/>
          </a:p>
        </p:txBody>
      </p:sp>
      <p:sp>
        <p:nvSpPr>
          <p:cNvPr id="18" name="Shape 15"/>
          <p:cNvSpPr/>
          <p:nvPr/>
        </p:nvSpPr>
        <p:spPr>
          <a:xfrm>
            <a:off x="3291840" y="3447288"/>
            <a:ext cx="5394960" cy="676656"/>
          </a:xfrm>
          <a:prstGeom prst="rect">
            <a:avLst/>
          </a:prstGeom>
          <a:solidFill>
            <a:srgbClr val="FFFFFF"/>
          </a:solidFill>
          <a:ln w="12700">
            <a:solidFill>
              <a:srgbClr val="E0DCCF"/>
            </a:solidFill>
            <a:prstDash val="solid"/>
          </a:ln>
        </p:spPr>
      </p:sp>
      <p:sp>
        <p:nvSpPr>
          <p:cNvPr id="19" name="Text 16"/>
          <p:cNvSpPr txBox="1"/>
          <p:nvPr/>
        </p:nvSpPr>
        <p:spPr>
          <a:xfrm>
            <a:off x="3474720" y="3447288"/>
            <a:ext cx="5074920" cy="676656"/>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Categorizes the complaint into areas such as food quality, service speed, cleanliness, pricing, or staff behavior, and identifies sentiment and urgency.</a:t>
            </a:r>
            <a:endParaRPr lang="en-US" sz="1150" dirty="0"/>
          </a:p>
        </p:txBody>
      </p:sp>
      <p:sp>
        <p:nvSpPr>
          <p:cNvPr id="20" name="Shape 17"/>
          <p:cNvSpPr/>
          <p:nvPr/>
        </p:nvSpPr>
        <p:spPr>
          <a:xfrm>
            <a:off x="457200" y="4215384"/>
            <a:ext cx="2834640" cy="676656"/>
          </a:xfrm>
          <a:prstGeom prst="rect">
            <a:avLst/>
          </a:prstGeom>
          <a:solidFill>
            <a:srgbClr val="1C7C7D"/>
          </a:solidFill>
          <a:ln w="12700">
            <a:solidFill>
              <a:srgbClr val="F6F3EC"/>
            </a:solidFill>
            <a:prstDash val="solid"/>
          </a:ln>
        </p:spPr>
      </p:sp>
      <p:sp>
        <p:nvSpPr>
          <p:cNvPr id="21" name="Text 18"/>
          <p:cNvSpPr txBox="1"/>
          <p:nvPr/>
        </p:nvSpPr>
        <p:spPr>
          <a:xfrm>
            <a:off x="640080" y="4215384"/>
            <a:ext cx="2560320" cy="67665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5  </a:t>
            </a:r>
            <a:pPr indent="0" marL="0">
              <a:buNone/>
            </a:pPr>
            <a:r>
              <a:rPr lang="en-US" sz="1250" b="1" dirty="0">
                <a:solidFill>
                  <a:srgbClr val="FFFFFF"/>
                </a:solidFill>
                <a:latin typeface="Calibri" pitchFamily="34" charset="0"/>
                <a:ea typeface="Calibri" pitchFamily="34" charset="-122"/>
                <a:cs typeface="Calibri" pitchFamily="34" charset="-120"/>
              </a:rPr>
              <a:t>Complaint Prioritization Agent</a:t>
            </a:r>
            <a:endParaRPr lang="en-US" sz="1250" dirty="0"/>
          </a:p>
        </p:txBody>
      </p:sp>
      <p:sp>
        <p:nvSpPr>
          <p:cNvPr id="22" name="Shape 19"/>
          <p:cNvSpPr/>
          <p:nvPr/>
        </p:nvSpPr>
        <p:spPr>
          <a:xfrm>
            <a:off x="3291840" y="4215384"/>
            <a:ext cx="5394960" cy="676656"/>
          </a:xfrm>
          <a:prstGeom prst="rect">
            <a:avLst/>
          </a:prstGeom>
          <a:solidFill>
            <a:srgbClr val="FFFFFF"/>
          </a:solidFill>
          <a:ln w="12700">
            <a:solidFill>
              <a:srgbClr val="E0DCCF"/>
            </a:solidFill>
            <a:prstDash val="solid"/>
          </a:ln>
        </p:spPr>
      </p:sp>
      <p:sp>
        <p:nvSpPr>
          <p:cNvPr id="23" name="Text 20"/>
          <p:cNvSpPr txBox="1"/>
          <p:nvPr/>
        </p:nvSpPr>
        <p:spPr>
          <a:xfrm>
            <a:off x="3474720" y="4215384"/>
            <a:ext cx="5074920" cy="676656"/>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Assigns a priority tier and score based on factors such as severity, urgency, and complaint frequency to help managers decide what needs attention first.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400" dirty="0">
                <a:solidFill>
                  <a:srgbClr val="1B1F2A"/>
                </a:solidFill>
                <a:latin typeface="Georgia" pitchFamily="34" charset="0"/>
                <a:ea typeface="Georgia" pitchFamily="34" charset="-122"/>
                <a:cs typeface="Georgia" pitchFamily="34" charset="-120"/>
              </a:rPr>
              <a:t>Multi-Agent System (2 of 2)</a:t>
            </a:r>
            <a:endParaRPr lang="en-US" sz="3400" dirty="0"/>
          </a:p>
        </p:txBody>
      </p:sp>
      <p:sp>
        <p:nvSpPr>
          <p:cNvPr id="4" name="Shape 1"/>
          <p:cNvSpPr/>
          <p:nvPr/>
        </p:nvSpPr>
        <p:spPr>
          <a:xfrm>
            <a:off x="457200" y="1188720"/>
            <a:ext cx="2834640" cy="804672"/>
          </a:xfrm>
          <a:prstGeom prst="rect">
            <a:avLst/>
          </a:prstGeom>
          <a:solidFill>
            <a:srgbClr val="1C7C7D"/>
          </a:solidFill>
          <a:ln w="12700">
            <a:solidFill>
              <a:srgbClr val="F6F3EC"/>
            </a:solidFill>
            <a:prstDash val="solid"/>
          </a:ln>
        </p:spPr>
      </p:sp>
      <p:sp>
        <p:nvSpPr>
          <p:cNvPr id="5" name="Text 2"/>
          <p:cNvSpPr txBox="1"/>
          <p:nvPr/>
        </p:nvSpPr>
        <p:spPr>
          <a:xfrm>
            <a:off x="640080" y="1188720"/>
            <a:ext cx="256032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6  </a:t>
            </a:r>
            <a:pPr indent="0" marL="0">
              <a:buNone/>
            </a:pPr>
            <a:r>
              <a:rPr lang="en-US" sz="1250" b="1" dirty="0">
                <a:solidFill>
                  <a:srgbClr val="FFFFFF"/>
                </a:solidFill>
                <a:latin typeface="Calibri" pitchFamily="34" charset="0"/>
                <a:ea typeface="Calibri" pitchFamily="34" charset="-122"/>
                <a:cs typeface="Calibri" pitchFamily="34" charset="-120"/>
              </a:rPr>
              <a:t>Review Aspect &amp; Root-Cause Analysis Agent</a:t>
            </a:r>
            <a:endParaRPr lang="en-US" sz="1250" dirty="0"/>
          </a:p>
        </p:txBody>
      </p:sp>
      <p:sp>
        <p:nvSpPr>
          <p:cNvPr id="6" name="Shape 3"/>
          <p:cNvSpPr/>
          <p:nvPr/>
        </p:nvSpPr>
        <p:spPr>
          <a:xfrm>
            <a:off x="3291840" y="1188720"/>
            <a:ext cx="5394960" cy="804672"/>
          </a:xfrm>
          <a:prstGeom prst="rect">
            <a:avLst/>
          </a:prstGeom>
          <a:solidFill>
            <a:srgbClr val="FFFFFF"/>
          </a:solidFill>
          <a:ln w="12700">
            <a:solidFill>
              <a:srgbClr val="E0DCCF"/>
            </a:solidFill>
            <a:prstDash val="solid"/>
          </a:ln>
        </p:spPr>
      </p:sp>
      <p:sp>
        <p:nvSpPr>
          <p:cNvPr id="7" name="Text 4"/>
          <p:cNvSpPr txBox="1"/>
          <p:nvPr/>
        </p:nvSpPr>
        <p:spPr>
          <a:xfrm>
            <a:off x="3474720" y="1188720"/>
            <a:ext cx="5074920" cy="804672"/>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Identifies recurring complaint aspects, extracts supporting review evidence, and analyzes possible operational causes behind customer dissatisfaction.</a:t>
            </a:r>
            <a:endParaRPr lang="en-US" sz="1150" dirty="0"/>
          </a:p>
        </p:txBody>
      </p:sp>
      <p:sp>
        <p:nvSpPr>
          <p:cNvPr id="8" name="Shape 5"/>
          <p:cNvSpPr/>
          <p:nvPr/>
        </p:nvSpPr>
        <p:spPr>
          <a:xfrm>
            <a:off x="457200" y="2103120"/>
            <a:ext cx="2834640" cy="804672"/>
          </a:xfrm>
          <a:prstGeom prst="rect">
            <a:avLst/>
          </a:prstGeom>
          <a:solidFill>
            <a:srgbClr val="1C7C7D"/>
          </a:solidFill>
          <a:ln w="12700">
            <a:solidFill>
              <a:srgbClr val="F6F3EC"/>
            </a:solidFill>
            <a:prstDash val="solid"/>
          </a:ln>
        </p:spPr>
      </p:sp>
      <p:sp>
        <p:nvSpPr>
          <p:cNvPr id="9" name="Text 6"/>
          <p:cNvSpPr txBox="1"/>
          <p:nvPr/>
        </p:nvSpPr>
        <p:spPr>
          <a:xfrm>
            <a:off x="640080" y="2103120"/>
            <a:ext cx="256032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7  </a:t>
            </a:r>
            <a:pPr indent="0" marL="0">
              <a:buNone/>
            </a:pPr>
            <a:r>
              <a:rPr lang="en-US" sz="1250" b="1" dirty="0">
                <a:solidFill>
                  <a:srgbClr val="FFFFFF"/>
                </a:solidFill>
                <a:latin typeface="Calibri" pitchFamily="34" charset="0"/>
                <a:ea typeface="Calibri" pitchFamily="34" charset="-122"/>
                <a:cs typeface="Calibri" pitchFamily="34" charset="-120"/>
              </a:rPr>
              <a:t>Operations &amp; Corrective Action Strategist Agent</a:t>
            </a:r>
            <a:endParaRPr lang="en-US" sz="1250" dirty="0"/>
          </a:p>
        </p:txBody>
      </p:sp>
      <p:sp>
        <p:nvSpPr>
          <p:cNvPr id="10" name="Shape 7"/>
          <p:cNvSpPr/>
          <p:nvPr/>
        </p:nvSpPr>
        <p:spPr>
          <a:xfrm>
            <a:off x="3291840" y="2103120"/>
            <a:ext cx="5394960" cy="804672"/>
          </a:xfrm>
          <a:prstGeom prst="rect">
            <a:avLst/>
          </a:prstGeom>
          <a:solidFill>
            <a:srgbClr val="FFFFFF"/>
          </a:solidFill>
          <a:ln w="12700">
            <a:solidFill>
              <a:srgbClr val="E0DCCF"/>
            </a:solidFill>
            <a:prstDash val="solid"/>
          </a:ln>
        </p:spPr>
      </p:sp>
      <p:sp>
        <p:nvSpPr>
          <p:cNvPr id="11" name="Text 8"/>
          <p:cNvSpPr txBox="1"/>
          <p:nvPr/>
        </p:nvSpPr>
        <p:spPr>
          <a:xfrm>
            <a:off x="3474720" y="2103120"/>
            <a:ext cx="5074920" cy="804672"/>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Converts the analysis into immediate corrective actions, staff coaching suggestions, preventative SOPs, and measurable success indicators.</a:t>
            </a:r>
            <a:endParaRPr lang="en-US" sz="1150" dirty="0"/>
          </a:p>
        </p:txBody>
      </p:sp>
      <p:sp>
        <p:nvSpPr>
          <p:cNvPr id="12" name="Shape 9"/>
          <p:cNvSpPr/>
          <p:nvPr/>
        </p:nvSpPr>
        <p:spPr>
          <a:xfrm>
            <a:off x="457200" y="3017520"/>
            <a:ext cx="2834640" cy="804672"/>
          </a:xfrm>
          <a:prstGeom prst="rect">
            <a:avLst/>
          </a:prstGeom>
          <a:solidFill>
            <a:srgbClr val="1C7C7D"/>
          </a:solidFill>
          <a:ln w="12700">
            <a:solidFill>
              <a:srgbClr val="F6F3EC"/>
            </a:solidFill>
            <a:prstDash val="solid"/>
          </a:ln>
        </p:spPr>
      </p:sp>
      <p:sp>
        <p:nvSpPr>
          <p:cNvPr id="13" name="Text 10"/>
          <p:cNvSpPr txBox="1"/>
          <p:nvPr/>
        </p:nvSpPr>
        <p:spPr>
          <a:xfrm>
            <a:off x="640080" y="3017520"/>
            <a:ext cx="256032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8  </a:t>
            </a:r>
            <a:pPr indent="0" marL="0">
              <a:buNone/>
            </a:pPr>
            <a:r>
              <a:rPr lang="en-US" sz="1250" b="1" dirty="0">
                <a:solidFill>
                  <a:srgbClr val="FFFFFF"/>
                </a:solidFill>
                <a:latin typeface="Calibri" pitchFamily="34" charset="0"/>
                <a:ea typeface="Calibri" pitchFamily="34" charset="-122"/>
                <a:cs typeface="Calibri" pitchFamily="34" charset="-120"/>
              </a:rPr>
              <a:t>Executive Auditor &amp; LLM-as-Judge Agent</a:t>
            </a:r>
            <a:endParaRPr lang="en-US" sz="1250" dirty="0"/>
          </a:p>
        </p:txBody>
      </p:sp>
      <p:sp>
        <p:nvSpPr>
          <p:cNvPr id="14" name="Shape 11"/>
          <p:cNvSpPr/>
          <p:nvPr/>
        </p:nvSpPr>
        <p:spPr>
          <a:xfrm>
            <a:off x="3291840" y="3017520"/>
            <a:ext cx="5394960" cy="804672"/>
          </a:xfrm>
          <a:prstGeom prst="rect">
            <a:avLst/>
          </a:prstGeom>
          <a:solidFill>
            <a:srgbClr val="FFFFFF"/>
          </a:solidFill>
          <a:ln w="12700">
            <a:solidFill>
              <a:srgbClr val="E0DCCF"/>
            </a:solidFill>
            <a:prstDash val="solid"/>
          </a:ln>
        </p:spPr>
      </p:sp>
      <p:sp>
        <p:nvSpPr>
          <p:cNvPr id="15" name="Text 12"/>
          <p:cNvSpPr txBox="1"/>
          <p:nvPr/>
        </p:nvSpPr>
        <p:spPr>
          <a:xfrm>
            <a:off x="3474720" y="3017520"/>
            <a:ext cx="5074920" cy="804672"/>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Evaluates the analysis and recommendations against quality criteria, including evidence grounding, root-cause precision, actionability, and severity calibration.</a:t>
            </a:r>
            <a:endParaRPr lang="en-US" sz="1150" dirty="0"/>
          </a:p>
        </p:txBody>
      </p:sp>
      <p:sp>
        <p:nvSpPr>
          <p:cNvPr id="16" name="Shape 13"/>
          <p:cNvSpPr/>
          <p:nvPr/>
        </p:nvSpPr>
        <p:spPr>
          <a:xfrm>
            <a:off x="457200" y="3931920"/>
            <a:ext cx="2834640" cy="804672"/>
          </a:xfrm>
          <a:prstGeom prst="rect">
            <a:avLst/>
          </a:prstGeom>
          <a:solidFill>
            <a:srgbClr val="E8590C"/>
          </a:solidFill>
          <a:ln w="12700">
            <a:solidFill>
              <a:srgbClr val="F6F3EC"/>
            </a:solidFill>
            <a:prstDash val="solid"/>
          </a:ln>
        </p:spPr>
      </p:sp>
      <p:sp>
        <p:nvSpPr>
          <p:cNvPr id="17" name="Text 14"/>
          <p:cNvSpPr txBox="1"/>
          <p:nvPr/>
        </p:nvSpPr>
        <p:spPr>
          <a:xfrm>
            <a:off x="640080" y="3931920"/>
            <a:ext cx="2560320" cy="8046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9  </a:t>
            </a:r>
            <a:pPr indent="0" marL="0">
              <a:buNone/>
            </a:pPr>
            <a:r>
              <a:rPr lang="en-US" sz="1250" b="1" dirty="0">
                <a:solidFill>
                  <a:srgbClr val="FFFFFF"/>
                </a:solidFill>
                <a:latin typeface="Calibri" pitchFamily="34" charset="0"/>
                <a:ea typeface="Calibri" pitchFamily="34" charset="-122"/>
                <a:cs typeface="Calibri" pitchFamily="34" charset="-120"/>
              </a:rPr>
              <a:t>Executive Review Synthesis &amp; Answer Agent</a:t>
            </a:r>
            <a:endParaRPr lang="en-US" sz="1250" dirty="0"/>
          </a:p>
        </p:txBody>
      </p:sp>
      <p:sp>
        <p:nvSpPr>
          <p:cNvPr id="18" name="Shape 15"/>
          <p:cNvSpPr/>
          <p:nvPr/>
        </p:nvSpPr>
        <p:spPr>
          <a:xfrm>
            <a:off x="3291840" y="3931920"/>
            <a:ext cx="5394960" cy="804672"/>
          </a:xfrm>
          <a:prstGeom prst="rect">
            <a:avLst/>
          </a:prstGeom>
          <a:solidFill>
            <a:srgbClr val="FFFFFF"/>
          </a:solidFill>
          <a:ln w="12700">
            <a:solidFill>
              <a:srgbClr val="E0DCCF"/>
            </a:solidFill>
            <a:prstDash val="solid"/>
          </a:ln>
        </p:spPr>
      </p:sp>
      <p:sp>
        <p:nvSpPr>
          <p:cNvPr id="19" name="Text 16"/>
          <p:cNvSpPr txBox="1"/>
          <p:nvPr/>
        </p:nvSpPr>
        <p:spPr>
          <a:xfrm>
            <a:off x="3474720" y="3931920"/>
            <a:ext cx="5074920" cy="804672"/>
          </a:xfrm>
          <a:prstGeom prst="rect">
            <a:avLst/>
          </a:prstGeom>
          <a:noFill/>
          <a:ln/>
        </p:spPr>
        <p:txBody>
          <a:bodyPr wrap="square" lIns="0" tIns="0" rIns="0" bIns="0" rtlCol="0" anchor="ctr"/>
          <a:lstStyle/>
          <a:p>
            <a:pPr indent="0" marL="0">
              <a:buNone/>
            </a:pPr>
            <a:r>
              <a:rPr lang="en-US" sz="1150" dirty="0">
                <a:solidFill>
                  <a:srgbClr val="1B1F2A"/>
                </a:solidFill>
                <a:latin typeface="Calibri" pitchFamily="34" charset="0"/>
                <a:ea typeface="Calibri" pitchFamily="34" charset="-122"/>
                <a:cs typeface="Calibri" pitchFamily="34" charset="-120"/>
              </a:rPr>
              <a:t>Combines the retrieved evidence, complaint analysis, priority, and recommendations into a concise final answer for the restaurant manager.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2A"/>
        </a:solidFill>
      </p:bgPr>
    </p:bg>
    <p:spTree>
      <p:nvGrpSpPr>
        <p:cNvPr id="1" name=""/>
        <p:cNvGrpSpPr/>
        <p:nvPr/>
      </p:nvGrpSpPr>
      <p:grpSpPr>
        <a:xfrm>
          <a:off x="0" y="0"/>
          <a:ext cx="0" cy="0"/>
          <a:chOff x="0" y="0"/>
          <a:chExt cx="0" cy="0"/>
        </a:xfrm>
      </p:grpSpPr>
      <p:sp>
        <p:nvSpPr>
          <p:cNvPr id="3"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400" dirty="0">
                <a:solidFill>
                  <a:srgbClr val="F6F3EC"/>
                </a:solidFill>
                <a:latin typeface="Georgia" pitchFamily="34" charset="0"/>
                <a:ea typeface="Georgia" pitchFamily="34" charset="-122"/>
                <a:cs typeface="Georgia" pitchFamily="34" charset="-120"/>
              </a:rPr>
              <a:t>Enhancements</a:t>
            </a:r>
            <a:endParaRPr lang="en-US" sz="3400" dirty="0"/>
          </a:p>
        </p:txBody>
      </p:sp>
      <p:sp>
        <p:nvSpPr>
          <p:cNvPr id="4" name="Shape 1"/>
          <p:cNvSpPr/>
          <p:nvPr/>
        </p:nvSpPr>
        <p:spPr>
          <a:xfrm>
            <a:off x="457200" y="1234440"/>
            <a:ext cx="2590800" cy="1554480"/>
          </a:xfrm>
          <a:prstGeom prst="rect">
            <a:avLst/>
          </a:prstGeom>
          <a:solidFill>
            <a:srgbClr val="2A3040"/>
          </a:solidFill>
          <a:ln w="12700">
            <a:solidFill>
              <a:srgbClr val="2A3040"/>
            </a:solidFill>
            <a:prstDash val="solid"/>
          </a:ln>
        </p:spPr>
      </p:sp>
      <p:sp>
        <p:nvSpPr>
          <p:cNvPr id="5" name="Shape 2"/>
          <p:cNvSpPr/>
          <p:nvPr/>
        </p:nvSpPr>
        <p:spPr>
          <a:xfrm>
            <a:off x="457200" y="1234440"/>
            <a:ext cx="2590800" cy="64008"/>
          </a:xfrm>
          <a:prstGeom prst="rect">
            <a:avLst/>
          </a:prstGeom>
          <a:solidFill>
            <a:srgbClr val="E8590C"/>
          </a:solidFill>
          <a:ln w="12700">
            <a:solidFill>
              <a:srgbClr val="E8590C"/>
            </a:solidFill>
            <a:prstDash val="solid"/>
          </a:ln>
        </p:spPr>
      </p:sp>
      <p:sp>
        <p:nvSpPr>
          <p:cNvPr id="6" name="Text 3"/>
          <p:cNvSpPr txBox="1"/>
          <p:nvPr/>
        </p:nvSpPr>
        <p:spPr>
          <a:xfrm>
            <a:off x="640080" y="1508760"/>
            <a:ext cx="2225040" cy="320040"/>
          </a:xfrm>
          <a:prstGeom prst="rect">
            <a:avLst/>
          </a:prstGeom>
          <a:noFill/>
          <a:ln/>
        </p:spPr>
        <p:txBody>
          <a:bodyPr wrap="square" lIns="0" tIns="0" rIns="0" bIns="0" rtlCol="0" anchor="t"/>
          <a:lstStyle/>
          <a:p>
            <a:pPr indent="0" marL="0">
              <a:buNone/>
            </a:pPr>
            <a:r>
              <a:rPr lang="en-US" sz="1400" b="1" dirty="0">
                <a:solidFill>
                  <a:srgbClr val="F6F3EC"/>
                </a:solidFill>
                <a:latin typeface="Calibri" pitchFamily="34" charset="0"/>
                <a:ea typeface="Calibri" pitchFamily="34" charset="-122"/>
                <a:cs typeface="Calibri" pitchFamily="34" charset="-120"/>
              </a:rPr>
              <a:t>Satisfaction Prediction</a:t>
            </a:r>
            <a:endParaRPr lang="en-US" sz="1400" dirty="0"/>
          </a:p>
        </p:txBody>
      </p:sp>
      <p:sp>
        <p:nvSpPr>
          <p:cNvPr id="7" name="Text 4"/>
          <p:cNvSpPr txBox="1"/>
          <p:nvPr/>
        </p:nvSpPr>
        <p:spPr>
          <a:xfrm>
            <a:off x="640080" y="1920240"/>
            <a:ext cx="2225040" cy="731520"/>
          </a:xfrm>
          <a:prstGeom prst="rect">
            <a:avLst/>
          </a:prstGeom>
          <a:noFill/>
          <a:ln/>
        </p:spPr>
        <p:txBody>
          <a:bodyPr wrap="square" lIns="0" tIns="0" rIns="0" bIns="0" rtlCol="0" anchor="t"/>
          <a:lstStyle/>
          <a:p>
            <a:pPr indent="0" marL="0">
              <a:buNone/>
            </a:pPr>
            <a:r>
              <a:rPr lang="en-US" sz="1150" dirty="0">
                <a:solidFill>
                  <a:srgbClr val="C9C5BA"/>
                </a:solidFill>
                <a:latin typeface="Calibri" pitchFamily="34" charset="0"/>
                <a:ea typeface="Calibri" pitchFamily="34" charset="-122"/>
                <a:cs typeface="Calibri" pitchFamily="34" charset="-120"/>
              </a:rPr>
              <a:t>TF-IDF and Ridge Regression estimate star ratings from review text.</a:t>
            </a:r>
            <a:endParaRPr lang="en-US" sz="1150" dirty="0"/>
          </a:p>
        </p:txBody>
      </p:sp>
      <p:sp>
        <p:nvSpPr>
          <p:cNvPr id="8" name="Shape 5"/>
          <p:cNvSpPr/>
          <p:nvPr/>
        </p:nvSpPr>
        <p:spPr>
          <a:xfrm>
            <a:off x="3276600" y="1234440"/>
            <a:ext cx="2590800" cy="1554480"/>
          </a:xfrm>
          <a:prstGeom prst="rect">
            <a:avLst/>
          </a:prstGeom>
          <a:solidFill>
            <a:srgbClr val="2A3040"/>
          </a:solidFill>
          <a:ln w="12700">
            <a:solidFill>
              <a:srgbClr val="2A3040"/>
            </a:solidFill>
            <a:prstDash val="solid"/>
          </a:ln>
        </p:spPr>
      </p:sp>
      <p:sp>
        <p:nvSpPr>
          <p:cNvPr id="9" name="Shape 6"/>
          <p:cNvSpPr/>
          <p:nvPr/>
        </p:nvSpPr>
        <p:spPr>
          <a:xfrm>
            <a:off x="3276600" y="1234440"/>
            <a:ext cx="2590800" cy="64008"/>
          </a:xfrm>
          <a:prstGeom prst="rect">
            <a:avLst/>
          </a:prstGeom>
          <a:solidFill>
            <a:srgbClr val="1C7C7D"/>
          </a:solidFill>
          <a:ln w="12700">
            <a:solidFill>
              <a:srgbClr val="1C7C7D"/>
            </a:solidFill>
            <a:prstDash val="solid"/>
          </a:ln>
        </p:spPr>
      </p:sp>
      <p:sp>
        <p:nvSpPr>
          <p:cNvPr id="10" name="Text 7"/>
          <p:cNvSpPr txBox="1"/>
          <p:nvPr/>
        </p:nvSpPr>
        <p:spPr>
          <a:xfrm>
            <a:off x="3459480" y="1508760"/>
            <a:ext cx="2225040" cy="320040"/>
          </a:xfrm>
          <a:prstGeom prst="rect">
            <a:avLst/>
          </a:prstGeom>
          <a:noFill/>
          <a:ln/>
        </p:spPr>
        <p:txBody>
          <a:bodyPr wrap="square" lIns="0" tIns="0" rIns="0" bIns="0" rtlCol="0" anchor="t"/>
          <a:lstStyle/>
          <a:p>
            <a:pPr indent="0" marL="0">
              <a:buNone/>
            </a:pPr>
            <a:r>
              <a:rPr lang="en-US" sz="1400" b="1" dirty="0">
                <a:solidFill>
                  <a:srgbClr val="F6F3EC"/>
                </a:solidFill>
                <a:latin typeface="Calibri" pitchFamily="34" charset="0"/>
                <a:ea typeface="Calibri" pitchFamily="34" charset="-122"/>
                <a:cs typeface="Calibri" pitchFamily="34" charset="-120"/>
              </a:rPr>
              <a:t>Complaint Trends</a:t>
            </a:r>
            <a:endParaRPr lang="en-US" sz="1400" dirty="0"/>
          </a:p>
        </p:txBody>
      </p:sp>
      <p:sp>
        <p:nvSpPr>
          <p:cNvPr id="11" name="Text 8"/>
          <p:cNvSpPr txBox="1"/>
          <p:nvPr/>
        </p:nvSpPr>
        <p:spPr>
          <a:xfrm>
            <a:off x="3459480" y="1920240"/>
            <a:ext cx="2225040" cy="731520"/>
          </a:xfrm>
          <a:prstGeom prst="rect">
            <a:avLst/>
          </a:prstGeom>
          <a:noFill/>
          <a:ln/>
        </p:spPr>
        <p:txBody>
          <a:bodyPr wrap="square" lIns="0" tIns="0" rIns="0" bIns="0" rtlCol="0" anchor="t"/>
          <a:lstStyle/>
          <a:p>
            <a:pPr indent="0" marL="0">
              <a:buNone/>
            </a:pPr>
            <a:r>
              <a:rPr lang="en-US" sz="1150" dirty="0">
                <a:solidFill>
                  <a:srgbClr val="C9C5BA"/>
                </a:solidFill>
                <a:latin typeface="Calibri" pitchFamily="34" charset="0"/>
                <a:ea typeface="Calibri" pitchFamily="34" charset="-122"/>
                <a:cs typeface="Calibri" pitchFamily="34" charset="-120"/>
              </a:rPr>
              <a:t>Historical complaint patterns highlight potential trends.</a:t>
            </a:r>
            <a:endParaRPr lang="en-US" sz="1150" dirty="0"/>
          </a:p>
        </p:txBody>
      </p:sp>
      <p:sp>
        <p:nvSpPr>
          <p:cNvPr id="12" name="Shape 9"/>
          <p:cNvSpPr/>
          <p:nvPr/>
        </p:nvSpPr>
        <p:spPr>
          <a:xfrm>
            <a:off x="6096000" y="1234440"/>
            <a:ext cx="2590800" cy="1554480"/>
          </a:xfrm>
          <a:prstGeom prst="rect">
            <a:avLst/>
          </a:prstGeom>
          <a:solidFill>
            <a:srgbClr val="2A3040"/>
          </a:solidFill>
          <a:ln w="12700">
            <a:solidFill>
              <a:srgbClr val="2A3040"/>
            </a:solidFill>
            <a:prstDash val="solid"/>
          </a:ln>
        </p:spPr>
      </p:sp>
      <p:sp>
        <p:nvSpPr>
          <p:cNvPr id="13" name="Shape 10"/>
          <p:cNvSpPr/>
          <p:nvPr/>
        </p:nvSpPr>
        <p:spPr>
          <a:xfrm>
            <a:off x="6096000" y="1234440"/>
            <a:ext cx="2590800" cy="64008"/>
          </a:xfrm>
          <a:prstGeom prst="rect">
            <a:avLst/>
          </a:prstGeom>
          <a:solidFill>
            <a:srgbClr val="E8590C"/>
          </a:solidFill>
          <a:ln w="12700">
            <a:solidFill>
              <a:srgbClr val="E8590C"/>
            </a:solidFill>
            <a:prstDash val="solid"/>
          </a:ln>
        </p:spPr>
      </p:sp>
      <p:sp>
        <p:nvSpPr>
          <p:cNvPr id="14" name="Text 11"/>
          <p:cNvSpPr txBox="1"/>
          <p:nvPr/>
        </p:nvSpPr>
        <p:spPr>
          <a:xfrm>
            <a:off x="6278880" y="1508760"/>
            <a:ext cx="2225040" cy="320040"/>
          </a:xfrm>
          <a:prstGeom prst="rect">
            <a:avLst/>
          </a:prstGeom>
          <a:noFill/>
          <a:ln/>
        </p:spPr>
        <p:txBody>
          <a:bodyPr wrap="square" lIns="0" tIns="0" rIns="0" bIns="0" rtlCol="0" anchor="t"/>
          <a:lstStyle/>
          <a:p>
            <a:pPr indent="0" marL="0">
              <a:buNone/>
            </a:pPr>
            <a:r>
              <a:rPr lang="en-US" sz="1400" b="1" dirty="0">
                <a:solidFill>
                  <a:srgbClr val="F6F3EC"/>
                </a:solidFill>
                <a:latin typeface="Calibri" pitchFamily="34" charset="0"/>
                <a:ea typeface="Calibri" pitchFamily="34" charset="-122"/>
                <a:cs typeface="Calibri" pitchFamily="34" charset="-120"/>
              </a:rPr>
              <a:t>Multilingual Summaries</a:t>
            </a:r>
            <a:endParaRPr lang="en-US" sz="1400" dirty="0"/>
          </a:p>
        </p:txBody>
      </p:sp>
      <p:sp>
        <p:nvSpPr>
          <p:cNvPr id="15" name="Text 12"/>
          <p:cNvSpPr txBox="1"/>
          <p:nvPr/>
        </p:nvSpPr>
        <p:spPr>
          <a:xfrm>
            <a:off x="6278880" y="1920240"/>
            <a:ext cx="2225040" cy="731520"/>
          </a:xfrm>
          <a:prstGeom prst="rect">
            <a:avLst/>
          </a:prstGeom>
          <a:noFill/>
          <a:ln/>
        </p:spPr>
        <p:txBody>
          <a:bodyPr wrap="square" lIns="0" tIns="0" rIns="0" bIns="0" rtlCol="0" anchor="t"/>
          <a:lstStyle/>
          <a:p>
            <a:pPr indent="0" marL="0">
              <a:buNone/>
            </a:pPr>
            <a:r>
              <a:rPr lang="en-US" sz="1150" dirty="0">
                <a:solidFill>
                  <a:srgbClr val="C9C5BA"/>
                </a:solidFill>
                <a:latin typeface="Calibri" pitchFamily="34" charset="0"/>
                <a:ea typeface="Calibri" pitchFamily="34" charset="-122"/>
                <a:cs typeface="Calibri" pitchFamily="34" charset="-120"/>
              </a:rPr>
              <a:t>Translate an English summary into Kannada, Hindi, Telugu or Tamil.</a:t>
            </a:r>
            <a:endParaRPr lang="en-US" sz="1150" dirty="0"/>
          </a:p>
        </p:txBody>
      </p:sp>
      <p:sp>
        <p:nvSpPr>
          <p:cNvPr id="16" name="Shape 13"/>
          <p:cNvSpPr/>
          <p:nvPr/>
        </p:nvSpPr>
        <p:spPr>
          <a:xfrm>
            <a:off x="457200" y="3017520"/>
            <a:ext cx="2590800" cy="1554480"/>
          </a:xfrm>
          <a:prstGeom prst="rect">
            <a:avLst/>
          </a:prstGeom>
          <a:solidFill>
            <a:srgbClr val="2A3040"/>
          </a:solidFill>
          <a:ln w="12700">
            <a:solidFill>
              <a:srgbClr val="2A3040"/>
            </a:solidFill>
            <a:prstDash val="solid"/>
          </a:ln>
        </p:spPr>
      </p:sp>
      <p:sp>
        <p:nvSpPr>
          <p:cNvPr id="17" name="Shape 14"/>
          <p:cNvSpPr/>
          <p:nvPr/>
        </p:nvSpPr>
        <p:spPr>
          <a:xfrm>
            <a:off x="457200" y="3017520"/>
            <a:ext cx="2590800" cy="64008"/>
          </a:xfrm>
          <a:prstGeom prst="rect">
            <a:avLst/>
          </a:prstGeom>
          <a:solidFill>
            <a:srgbClr val="1C7C7D"/>
          </a:solidFill>
          <a:ln w="12700">
            <a:solidFill>
              <a:srgbClr val="1C7C7D"/>
            </a:solidFill>
            <a:prstDash val="solid"/>
          </a:ln>
        </p:spPr>
      </p:sp>
      <p:sp>
        <p:nvSpPr>
          <p:cNvPr id="18" name="Text 15"/>
          <p:cNvSpPr txBox="1"/>
          <p:nvPr/>
        </p:nvSpPr>
        <p:spPr>
          <a:xfrm>
            <a:off x="640080" y="3291840"/>
            <a:ext cx="2225040" cy="320040"/>
          </a:xfrm>
          <a:prstGeom prst="rect">
            <a:avLst/>
          </a:prstGeom>
          <a:noFill/>
          <a:ln/>
        </p:spPr>
        <p:txBody>
          <a:bodyPr wrap="square" lIns="0" tIns="0" rIns="0" bIns="0" rtlCol="0" anchor="t"/>
          <a:lstStyle/>
          <a:p>
            <a:pPr indent="0" marL="0">
              <a:buNone/>
            </a:pPr>
            <a:r>
              <a:rPr lang="en-US" sz="1400" b="1" dirty="0">
                <a:solidFill>
                  <a:srgbClr val="F6F3EC"/>
                </a:solidFill>
                <a:latin typeface="Calibri" pitchFamily="34" charset="0"/>
                <a:ea typeface="Calibri" pitchFamily="34" charset="-122"/>
                <a:cs typeface="Calibri" pitchFamily="34" charset="-120"/>
              </a:rPr>
              <a:t>Quality Evaluation</a:t>
            </a:r>
            <a:endParaRPr lang="en-US" sz="1400" dirty="0"/>
          </a:p>
        </p:txBody>
      </p:sp>
      <p:sp>
        <p:nvSpPr>
          <p:cNvPr id="19" name="Text 16"/>
          <p:cNvSpPr txBox="1"/>
          <p:nvPr/>
        </p:nvSpPr>
        <p:spPr>
          <a:xfrm>
            <a:off x="640080" y="3703320"/>
            <a:ext cx="2225040" cy="731520"/>
          </a:xfrm>
          <a:prstGeom prst="rect">
            <a:avLst/>
          </a:prstGeom>
          <a:noFill/>
          <a:ln/>
        </p:spPr>
        <p:txBody>
          <a:bodyPr wrap="square" lIns="0" tIns="0" rIns="0" bIns="0" rtlCol="0" anchor="t"/>
          <a:lstStyle/>
          <a:p>
            <a:pPr indent="0" marL="0">
              <a:buNone/>
            </a:pPr>
            <a:r>
              <a:rPr lang="en-US" sz="1150" dirty="0">
                <a:solidFill>
                  <a:srgbClr val="C9C5BA"/>
                </a:solidFill>
                <a:latin typeface="Calibri" pitchFamily="34" charset="0"/>
                <a:ea typeface="Calibri" pitchFamily="34" charset="-122"/>
                <a:cs typeface="Calibri" pitchFamily="34" charset="-120"/>
              </a:rPr>
              <a:t>DeepEval and LLM-as-judge assess response quality.</a:t>
            </a:r>
            <a:endParaRPr lang="en-US" sz="1150" dirty="0"/>
          </a:p>
        </p:txBody>
      </p:sp>
      <p:sp>
        <p:nvSpPr>
          <p:cNvPr id="20" name="Shape 17"/>
          <p:cNvSpPr/>
          <p:nvPr/>
        </p:nvSpPr>
        <p:spPr>
          <a:xfrm>
            <a:off x="3276600" y="3017520"/>
            <a:ext cx="2590800" cy="1554480"/>
          </a:xfrm>
          <a:prstGeom prst="rect">
            <a:avLst/>
          </a:prstGeom>
          <a:solidFill>
            <a:srgbClr val="2A3040"/>
          </a:solidFill>
          <a:ln w="12700">
            <a:solidFill>
              <a:srgbClr val="2A3040"/>
            </a:solidFill>
            <a:prstDash val="solid"/>
          </a:ln>
        </p:spPr>
      </p:sp>
      <p:sp>
        <p:nvSpPr>
          <p:cNvPr id="21" name="Shape 18"/>
          <p:cNvSpPr/>
          <p:nvPr/>
        </p:nvSpPr>
        <p:spPr>
          <a:xfrm>
            <a:off x="3276600" y="3017520"/>
            <a:ext cx="2590800" cy="64008"/>
          </a:xfrm>
          <a:prstGeom prst="rect">
            <a:avLst/>
          </a:prstGeom>
          <a:solidFill>
            <a:srgbClr val="E8590C"/>
          </a:solidFill>
          <a:ln w="12700">
            <a:solidFill>
              <a:srgbClr val="E8590C"/>
            </a:solidFill>
            <a:prstDash val="solid"/>
          </a:ln>
        </p:spPr>
      </p:sp>
      <p:sp>
        <p:nvSpPr>
          <p:cNvPr id="22" name="Text 19"/>
          <p:cNvSpPr txBox="1"/>
          <p:nvPr/>
        </p:nvSpPr>
        <p:spPr>
          <a:xfrm>
            <a:off x="3459480" y="3291840"/>
            <a:ext cx="2225040" cy="320040"/>
          </a:xfrm>
          <a:prstGeom prst="rect">
            <a:avLst/>
          </a:prstGeom>
          <a:noFill/>
          <a:ln/>
        </p:spPr>
        <p:txBody>
          <a:bodyPr wrap="square" lIns="0" tIns="0" rIns="0" bIns="0" rtlCol="0" anchor="t"/>
          <a:lstStyle/>
          <a:p>
            <a:pPr indent="0" marL="0">
              <a:buNone/>
            </a:pPr>
            <a:r>
              <a:rPr lang="en-US" sz="1400" b="1" dirty="0">
                <a:solidFill>
                  <a:srgbClr val="F6F3EC"/>
                </a:solidFill>
                <a:latin typeface="Calibri" pitchFamily="34" charset="0"/>
                <a:ea typeface="Calibri" pitchFamily="34" charset="-122"/>
                <a:cs typeface="Calibri" pitchFamily="34" charset="-120"/>
              </a:rPr>
              <a:t>Feedback Loop</a:t>
            </a:r>
            <a:endParaRPr lang="en-US" sz="1400" dirty="0"/>
          </a:p>
        </p:txBody>
      </p:sp>
      <p:sp>
        <p:nvSpPr>
          <p:cNvPr id="23" name="Text 20"/>
          <p:cNvSpPr txBox="1"/>
          <p:nvPr/>
        </p:nvSpPr>
        <p:spPr>
          <a:xfrm>
            <a:off x="3459480" y="3703320"/>
            <a:ext cx="2225040" cy="731520"/>
          </a:xfrm>
          <a:prstGeom prst="rect">
            <a:avLst/>
          </a:prstGeom>
          <a:noFill/>
          <a:ln/>
        </p:spPr>
        <p:txBody>
          <a:bodyPr wrap="square" lIns="0" tIns="0" rIns="0" bIns="0" rtlCol="0" anchor="t"/>
          <a:lstStyle/>
          <a:p>
            <a:pPr indent="0" marL="0">
              <a:buNone/>
            </a:pPr>
            <a:r>
              <a:rPr lang="en-US" sz="1150" dirty="0">
                <a:solidFill>
                  <a:srgbClr val="C9C5BA"/>
                </a:solidFill>
                <a:latin typeface="Calibri" pitchFamily="34" charset="0"/>
                <a:ea typeface="Calibri" pitchFamily="34" charset="-122"/>
                <a:cs typeface="Calibri" pitchFamily="34" charset="-120"/>
              </a:rPr>
              <a:t>Manager feedback is captured to improve future quality.</a:t>
            </a:r>
            <a:endParaRPr lang="en-US" sz="1150" dirty="0"/>
          </a:p>
        </p:txBody>
      </p:sp>
      <p:sp>
        <p:nvSpPr>
          <p:cNvPr id="24" name="Shape 21"/>
          <p:cNvSpPr/>
          <p:nvPr/>
        </p:nvSpPr>
        <p:spPr>
          <a:xfrm>
            <a:off x="6096000" y="3017520"/>
            <a:ext cx="2590800" cy="1554480"/>
          </a:xfrm>
          <a:prstGeom prst="rect">
            <a:avLst/>
          </a:prstGeom>
          <a:solidFill>
            <a:srgbClr val="2A3040"/>
          </a:solidFill>
          <a:ln w="12700">
            <a:solidFill>
              <a:srgbClr val="2A3040"/>
            </a:solidFill>
            <a:prstDash val="solid"/>
          </a:ln>
        </p:spPr>
      </p:sp>
      <p:sp>
        <p:nvSpPr>
          <p:cNvPr id="25" name="Shape 22"/>
          <p:cNvSpPr/>
          <p:nvPr/>
        </p:nvSpPr>
        <p:spPr>
          <a:xfrm>
            <a:off x="6096000" y="3017520"/>
            <a:ext cx="2590800" cy="64008"/>
          </a:xfrm>
          <a:prstGeom prst="rect">
            <a:avLst/>
          </a:prstGeom>
          <a:solidFill>
            <a:srgbClr val="1C7C7D"/>
          </a:solidFill>
          <a:ln w="12700">
            <a:solidFill>
              <a:srgbClr val="1C7C7D"/>
            </a:solidFill>
            <a:prstDash val="solid"/>
          </a:ln>
        </p:spPr>
      </p:sp>
      <p:sp>
        <p:nvSpPr>
          <p:cNvPr id="26" name="Text 23"/>
          <p:cNvSpPr txBox="1"/>
          <p:nvPr/>
        </p:nvSpPr>
        <p:spPr>
          <a:xfrm>
            <a:off x="6278880" y="3291840"/>
            <a:ext cx="2225040" cy="320040"/>
          </a:xfrm>
          <a:prstGeom prst="rect">
            <a:avLst/>
          </a:prstGeom>
          <a:noFill/>
          <a:ln/>
        </p:spPr>
        <p:txBody>
          <a:bodyPr wrap="square" lIns="0" tIns="0" rIns="0" bIns="0" rtlCol="0" anchor="t"/>
          <a:lstStyle/>
          <a:p>
            <a:pPr indent="0" marL="0">
              <a:buNone/>
            </a:pPr>
            <a:r>
              <a:rPr lang="en-US" sz="1400" b="1" dirty="0">
                <a:solidFill>
                  <a:srgbClr val="F6F3EC"/>
                </a:solidFill>
                <a:latin typeface="Calibri" pitchFamily="34" charset="0"/>
                <a:ea typeface="Calibri" pitchFamily="34" charset="-122"/>
                <a:cs typeface="Calibri" pitchFamily="34" charset="-120"/>
              </a:rPr>
              <a:t>Fallback Mechanisms</a:t>
            </a:r>
            <a:endParaRPr lang="en-US" sz="1400" dirty="0"/>
          </a:p>
        </p:txBody>
      </p:sp>
      <p:sp>
        <p:nvSpPr>
          <p:cNvPr id="27" name="Text 24"/>
          <p:cNvSpPr txBox="1"/>
          <p:nvPr/>
        </p:nvSpPr>
        <p:spPr>
          <a:xfrm>
            <a:off x="6278880" y="3703320"/>
            <a:ext cx="2225040" cy="731520"/>
          </a:xfrm>
          <a:prstGeom prst="rect">
            <a:avLst/>
          </a:prstGeom>
          <a:noFill/>
          <a:ln/>
        </p:spPr>
        <p:txBody>
          <a:bodyPr wrap="square" lIns="0" tIns="0" rIns="0" bIns="0" rtlCol="0" anchor="t"/>
          <a:lstStyle/>
          <a:p>
            <a:pPr indent="0" marL="0">
              <a:buNone/>
            </a:pPr>
            <a:r>
              <a:rPr lang="en-US" sz="1150" dirty="0">
                <a:solidFill>
                  <a:srgbClr val="C9C5BA"/>
                </a:solidFill>
                <a:latin typeface="Calibri" pitchFamily="34" charset="0"/>
                <a:ea typeface="Calibri" pitchFamily="34" charset="-122"/>
                <a:cs typeface="Calibri" pitchFamily="34" charset="-120"/>
              </a:rPr>
              <a:t>Alternative retrieval, database or LLM paths keep parts running when preferred services fail.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Restaurant Operations &amp; Review Assistant</dc:title>
  <dc:subject>PptxGenJS Presentation</dc:subject>
  <dc:creator>PptxGenJS</dc:creator>
  <cp:lastModifiedBy>PptxGenJS</cp:lastModifiedBy>
  <cp:revision>1</cp:revision>
  <dcterms:created xsi:type="dcterms:W3CDTF">2026-10-12T07:15:22Z</dcterms:created>
  <dcterms:modified xsi:type="dcterms:W3CDTF">2026-10-12T07:15:22Z</dcterms:modified>
</cp:coreProperties>
</file>